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1" r:id="rId5"/>
    <p:sldId id="273" r:id="rId6"/>
    <p:sldId id="272" r:id="rId7"/>
    <p:sldId id="261" r:id="rId8"/>
    <p:sldId id="262" r:id="rId9"/>
    <p:sldId id="263" r:id="rId10"/>
    <p:sldId id="264" r:id="rId11"/>
    <p:sldId id="275" r:id="rId12"/>
    <p:sldId id="266" r:id="rId13"/>
    <p:sldId id="267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2E4F"/>
    <a:srgbClr val="DEC8CF"/>
    <a:srgbClr val="F7EAED"/>
    <a:srgbClr val="0F08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1D6D21-BE0D-4C91-A534-30EB2AC155E2}" v="33" dt="2026-03-02T09:22:03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401" autoAdjust="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 sun" userId="f2015ccf83f01c32" providerId="LiveId" clId="{4324E771-3680-487F-9F02-19E6D31BFDF1}"/>
    <pc:docChg chg="undo custSel modSld">
      <pc:chgData name="eva sun" userId="f2015ccf83f01c32" providerId="LiveId" clId="{4324E771-3680-487F-9F02-19E6D31BFDF1}" dt="2026-03-02T09:22:11.054" v="240" actId="20577"/>
      <pc:docMkLst>
        <pc:docMk/>
      </pc:docMkLst>
      <pc:sldChg chg="modSp mod">
        <pc:chgData name="eva sun" userId="f2015ccf83f01c32" providerId="LiveId" clId="{4324E771-3680-487F-9F02-19E6D31BFDF1}" dt="2026-03-01T14:52:29.187" v="7" actId="20577"/>
        <pc:sldMkLst>
          <pc:docMk/>
          <pc:sldMk cId="0" sldId="261"/>
        </pc:sldMkLst>
        <pc:spChg chg="mod">
          <ac:chgData name="eva sun" userId="f2015ccf83f01c32" providerId="LiveId" clId="{4324E771-3680-487F-9F02-19E6D31BFDF1}" dt="2026-03-01T14:52:29.187" v="7" actId="20577"/>
          <ac:spMkLst>
            <pc:docMk/>
            <pc:sldMk cId="0" sldId="261"/>
            <ac:spMk id="75" creationId="{C30766FD-A89B-745B-6E29-90EB74ED8E5F}"/>
          </ac:spMkLst>
        </pc:spChg>
      </pc:sldChg>
      <pc:sldChg chg="modSp mod">
        <pc:chgData name="eva sun" userId="f2015ccf83f01c32" providerId="LiveId" clId="{4324E771-3680-487F-9F02-19E6D31BFDF1}" dt="2026-03-01T14:52:34.715" v="9" actId="20577"/>
        <pc:sldMkLst>
          <pc:docMk/>
          <pc:sldMk cId="0" sldId="262"/>
        </pc:sldMkLst>
        <pc:spChg chg="mod">
          <ac:chgData name="eva sun" userId="f2015ccf83f01c32" providerId="LiveId" clId="{4324E771-3680-487F-9F02-19E6D31BFDF1}" dt="2026-03-01T14:52:34.715" v="9" actId="20577"/>
          <ac:spMkLst>
            <pc:docMk/>
            <pc:sldMk cId="0" sldId="262"/>
            <ac:spMk id="56" creationId="{00000000-0000-0000-0000-000000000000}"/>
          </ac:spMkLst>
        </pc:spChg>
      </pc:sldChg>
      <pc:sldChg chg="modSp mod">
        <pc:chgData name="eva sun" userId="f2015ccf83f01c32" providerId="LiveId" clId="{4324E771-3680-487F-9F02-19E6D31BFDF1}" dt="2026-03-02T09:22:03.047" v="236" actId="20577"/>
        <pc:sldMkLst>
          <pc:docMk/>
          <pc:sldMk cId="0" sldId="263"/>
        </pc:sldMkLst>
        <pc:spChg chg="mod">
          <ac:chgData name="eva sun" userId="f2015ccf83f01c32" providerId="LiveId" clId="{4324E771-3680-487F-9F02-19E6D31BFDF1}" dt="2026-03-02T09:21:27.152" v="216" actId="1410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eva sun" userId="f2015ccf83f01c32" providerId="LiveId" clId="{4324E771-3680-487F-9F02-19E6D31BFDF1}" dt="2026-03-02T09:21:33.815" v="222" actId="2057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eva sun" userId="f2015ccf83f01c32" providerId="LiveId" clId="{4324E771-3680-487F-9F02-19E6D31BFDF1}" dt="2026-03-02T09:21:37.729" v="230" actId="20577"/>
          <ac:spMkLst>
            <pc:docMk/>
            <pc:sldMk cId="0" sldId="263"/>
            <ac:spMk id="32" creationId="{00000000-0000-0000-0000-000000000000}"/>
          </ac:spMkLst>
        </pc:spChg>
        <pc:spChg chg="mod">
          <ac:chgData name="eva sun" userId="f2015ccf83f01c32" providerId="LiveId" clId="{4324E771-3680-487F-9F02-19E6D31BFDF1}" dt="2026-03-02T09:21:47.015" v="232" actId="20577"/>
          <ac:spMkLst>
            <pc:docMk/>
            <pc:sldMk cId="0" sldId="263"/>
            <ac:spMk id="34" creationId="{00000000-0000-0000-0000-000000000000}"/>
          </ac:spMkLst>
        </pc:spChg>
        <pc:spChg chg="mod">
          <ac:chgData name="eva sun" userId="f2015ccf83f01c32" providerId="LiveId" clId="{4324E771-3680-487F-9F02-19E6D31BFDF1}" dt="2026-03-01T15:14:28.729" v="34" actId="14100"/>
          <ac:spMkLst>
            <pc:docMk/>
            <pc:sldMk cId="0" sldId="263"/>
            <ac:spMk id="37" creationId="{00000000-0000-0000-0000-000000000000}"/>
          </ac:spMkLst>
        </pc:spChg>
        <pc:spChg chg="mod">
          <ac:chgData name="eva sun" userId="f2015ccf83f01c32" providerId="LiveId" clId="{4324E771-3680-487F-9F02-19E6D31BFDF1}" dt="2026-03-01T14:52:41.173" v="11" actId="20577"/>
          <ac:spMkLst>
            <pc:docMk/>
            <pc:sldMk cId="0" sldId="263"/>
            <ac:spMk id="42" creationId="{00000000-0000-0000-0000-000000000000}"/>
          </ac:spMkLst>
        </pc:spChg>
        <pc:spChg chg="mod">
          <ac:chgData name="eva sun" userId="f2015ccf83f01c32" providerId="LiveId" clId="{4324E771-3680-487F-9F02-19E6D31BFDF1}" dt="2026-03-02T09:22:03.047" v="236" actId="20577"/>
          <ac:spMkLst>
            <pc:docMk/>
            <pc:sldMk cId="0" sldId="263"/>
            <ac:spMk id="46" creationId="{0F284ABE-26B3-F8CB-8F7E-874D0AFE1E74}"/>
          </ac:spMkLst>
        </pc:spChg>
      </pc:sldChg>
      <pc:sldChg chg="addSp modSp mod addAnim delAnim modAnim">
        <pc:chgData name="eva sun" userId="f2015ccf83f01c32" providerId="LiveId" clId="{4324E771-3680-487F-9F02-19E6D31BFDF1}" dt="2026-03-02T02:02:35.335" v="42"/>
        <pc:sldMkLst>
          <pc:docMk/>
          <pc:sldMk cId="0" sldId="264"/>
        </pc:sldMkLst>
        <pc:spChg chg="add mod">
          <ac:chgData name="eva sun" userId="f2015ccf83f01c32" providerId="LiveId" clId="{4324E771-3680-487F-9F02-19E6D31BFDF1}" dt="2026-03-02T02:02:24.887" v="40" actId="207"/>
          <ac:spMkLst>
            <pc:docMk/>
            <pc:sldMk cId="0" sldId="264"/>
            <ac:spMk id="7" creationId="{1182852F-F0DB-C130-E22E-BFD10C8E693A}"/>
          </ac:spMkLst>
        </pc:spChg>
        <pc:spChg chg="mod">
          <ac:chgData name="eva sun" userId="f2015ccf83f01c32" providerId="LiveId" clId="{4324E771-3680-487F-9F02-19E6D31BFDF1}" dt="2026-03-01T14:52:47.971" v="14" actId="20577"/>
          <ac:spMkLst>
            <pc:docMk/>
            <pc:sldMk cId="0" sldId="264"/>
            <ac:spMk id="24" creationId="{00000000-0000-0000-0000-000000000000}"/>
          </ac:spMkLst>
        </pc:spChg>
      </pc:sldChg>
      <pc:sldChg chg="modSp mod modAnim">
        <pc:chgData name="eva sun" userId="f2015ccf83f01c32" providerId="LiveId" clId="{4324E771-3680-487F-9F02-19E6D31BFDF1}" dt="2026-03-02T02:49:39.731" v="50"/>
        <pc:sldMkLst>
          <pc:docMk/>
          <pc:sldMk cId="0" sldId="266"/>
        </pc:sldMkLst>
        <pc:spChg chg="mod">
          <ac:chgData name="eva sun" userId="f2015ccf83f01c32" providerId="LiveId" clId="{4324E771-3680-487F-9F02-19E6D31BFDF1}" dt="2026-03-01T14:52:59.113" v="18" actId="20577"/>
          <ac:spMkLst>
            <pc:docMk/>
            <pc:sldMk cId="0" sldId="266"/>
            <ac:spMk id="39" creationId="{00000000-0000-0000-0000-000000000000}"/>
          </ac:spMkLst>
        </pc:spChg>
      </pc:sldChg>
      <pc:sldChg chg="modSp mod">
        <pc:chgData name="eva sun" userId="f2015ccf83f01c32" providerId="LiveId" clId="{4324E771-3680-487F-9F02-19E6D31BFDF1}" dt="2026-03-01T14:53:04.757" v="20" actId="20577"/>
        <pc:sldMkLst>
          <pc:docMk/>
          <pc:sldMk cId="0" sldId="267"/>
        </pc:sldMkLst>
        <pc:spChg chg="mod">
          <ac:chgData name="eva sun" userId="f2015ccf83f01c32" providerId="LiveId" clId="{4324E771-3680-487F-9F02-19E6D31BFDF1}" dt="2026-03-01T14:53:04.757" v="20" actId="20577"/>
          <ac:spMkLst>
            <pc:docMk/>
            <pc:sldMk cId="0" sldId="267"/>
            <ac:spMk id="26" creationId="{00000000-0000-0000-0000-000000000000}"/>
          </ac:spMkLst>
        </pc:spChg>
      </pc:sldChg>
      <pc:sldChg chg="modSp mod">
        <pc:chgData name="eva sun" userId="f2015ccf83f01c32" providerId="LiveId" clId="{4324E771-3680-487F-9F02-19E6D31BFDF1}" dt="2026-03-02T02:03:02.024" v="43" actId="2085"/>
        <pc:sldMkLst>
          <pc:docMk/>
          <pc:sldMk cId="0" sldId="269"/>
        </pc:sldMkLst>
        <pc:spChg chg="mod">
          <ac:chgData name="eva sun" userId="f2015ccf83f01c32" providerId="LiveId" clId="{4324E771-3680-487F-9F02-19E6D31BFDF1}" dt="2026-03-02T02:03:02.024" v="43" actId="2085"/>
          <ac:spMkLst>
            <pc:docMk/>
            <pc:sldMk cId="0" sldId="269"/>
            <ac:spMk id="25" creationId="{259A7168-2A1E-2BA7-B976-1F0EBB4D2E27}"/>
          </ac:spMkLst>
        </pc:spChg>
      </pc:sldChg>
      <pc:sldChg chg="delSp modSp mod modNotesTx">
        <pc:chgData name="eva sun" userId="f2015ccf83f01c32" providerId="LiveId" clId="{4324E771-3680-487F-9F02-19E6D31BFDF1}" dt="2026-03-02T06:46:19.191" v="211" actId="20577"/>
        <pc:sldMkLst>
          <pc:docMk/>
          <pc:sldMk cId="0" sldId="272"/>
        </pc:sldMkLst>
        <pc:spChg chg="del">
          <ac:chgData name="eva sun" userId="f2015ccf83f01c32" providerId="LiveId" clId="{4324E771-3680-487F-9F02-19E6D31BFDF1}" dt="2026-03-02T02:01:28.803" v="36" actId="478"/>
          <ac:spMkLst>
            <pc:docMk/>
            <pc:sldMk cId="0" sldId="272"/>
            <ac:spMk id="18" creationId="{00000000-0000-0000-0000-000000000000}"/>
          </ac:spMkLst>
        </pc:spChg>
        <pc:spChg chg="del">
          <ac:chgData name="eva sun" userId="f2015ccf83f01c32" providerId="LiveId" clId="{4324E771-3680-487F-9F02-19E6D31BFDF1}" dt="2026-03-02T02:01:26.857" v="35" actId="478"/>
          <ac:spMkLst>
            <pc:docMk/>
            <pc:sldMk cId="0" sldId="272"/>
            <ac:spMk id="19" creationId="{00000000-0000-0000-0000-000000000000}"/>
          </ac:spMkLst>
        </pc:spChg>
        <pc:spChg chg="mod">
          <ac:chgData name="eva sun" userId="f2015ccf83f01c32" providerId="LiveId" clId="{4324E771-3680-487F-9F02-19E6D31BFDF1}" dt="2026-03-01T14:52:16.892" v="5" actId="20577"/>
          <ac:spMkLst>
            <pc:docMk/>
            <pc:sldMk cId="0" sldId="272"/>
            <ac:spMk id="22" creationId="{00000000-0000-0000-0000-000000000000}"/>
          </ac:spMkLst>
        </pc:spChg>
      </pc:sldChg>
      <pc:sldChg chg="modSp mod">
        <pc:chgData name="eva sun" userId="f2015ccf83f01c32" providerId="LiveId" clId="{4324E771-3680-487F-9F02-19E6D31BFDF1}" dt="2026-03-01T14:52:07.727" v="3" actId="20577"/>
        <pc:sldMkLst>
          <pc:docMk/>
          <pc:sldMk cId="3960566879" sldId="273"/>
        </pc:sldMkLst>
        <pc:spChg chg="mod">
          <ac:chgData name="eva sun" userId="f2015ccf83f01c32" providerId="LiveId" clId="{4324E771-3680-487F-9F02-19E6D31BFDF1}" dt="2026-03-01T14:52:07.727" v="3" actId="20577"/>
          <ac:spMkLst>
            <pc:docMk/>
            <pc:sldMk cId="3960566879" sldId="273"/>
            <ac:spMk id="75" creationId="{F09E6CFD-3EF9-B585-E793-4AC9942863F7}"/>
          </ac:spMkLst>
        </pc:spChg>
      </pc:sldChg>
      <pc:sldChg chg="modSp mod">
        <pc:chgData name="eva sun" userId="f2015ccf83f01c32" providerId="LiveId" clId="{4324E771-3680-487F-9F02-19E6D31BFDF1}" dt="2026-03-02T09:22:11.054" v="240" actId="20577"/>
        <pc:sldMkLst>
          <pc:docMk/>
          <pc:sldMk cId="778849692" sldId="275"/>
        </pc:sldMkLst>
        <pc:spChg chg="mod">
          <ac:chgData name="eva sun" userId="f2015ccf83f01c32" providerId="LiveId" clId="{4324E771-3680-487F-9F02-19E6D31BFDF1}" dt="2026-03-02T09:22:11.054" v="240" actId="20577"/>
          <ac:spMkLst>
            <pc:docMk/>
            <pc:sldMk cId="778849692" sldId="275"/>
            <ac:spMk id="8" creationId="{C1EB94B7-88B2-B85E-158B-9C93DAF52CA5}"/>
          </ac:spMkLst>
        </pc:spChg>
        <pc:spChg chg="mod">
          <ac:chgData name="eva sun" userId="f2015ccf83f01c32" providerId="LiveId" clId="{4324E771-3680-487F-9F02-19E6D31BFDF1}" dt="2026-03-01T14:52:53.377" v="16" actId="20577"/>
          <ac:spMkLst>
            <pc:docMk/>
            <pc:sldMk cId="778849692" sldId="275"/>
            <ac:spMk id="40" creationId="{4C8C3D62-B4D8-9DAB-9A48-61B703FA3B47}"/>
          </ac:spMkLst>
        </pc:spChg>
        <pc:spChg chg="mod">
          <ac:chgData name="eva sun" userId="f2015ccf83f01c32" providerId="LiveId" clId="{4324E771-3680-487F-9F02-19E6D31BFDF1}" dt="2026-03-02T02:47:10.801" v="49" actId="20577"/>
          <ac:spMkLst>
            <pc:docMk/>
            <pc:sldMk cId="778849692" sldId="275"/>
            <ac:spMk id="4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68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A6D4C-9BE8-F6D6-F1B6-7F46C3F11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5C380-C60C-0E76-5451-A2CFBA56A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DAF6C-D881-82C5-8B6D-186F5A4A8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A72FB-9AC8-5E9C-BFE2-CAD104A056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8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is built based on the second drop off. As when the view to cart happened, no features .</a:t>
            </a:r>
          </a:p>
          <a:p>
            <a:r>
              <a:rPr lang="en-US" dirty="0"/>
              <a:t>PR AUC? Balance </a:t>
            </a:r>
            <a:r>
              <a:rPr lang="en-US"/>
              <a:t>random forest?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0C8C-C266-EBEF-7B2E-58017BDE4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7A2F3-00D0-8535-5FC8-45CE4983D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C62F0-F259-3313-2742-9F5581BFB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8D8DA-1924-3E87-4207-B60EA9B7F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95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D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C4687A">
              <a:alpha val="45000"/>
            </a:srgbClr>
          </a:solidFill>
          <a:ln w="12700">
            <a:solidFill>
              <a:srgbClr val="C4687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C4687A">
              <a:alpha val="35000"/>
            </a:srgbClr>
          </a:solidFill>
          <a:ln w="12700">
            <a:solidFill>
              <a:srgbClr val="C468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548640" y="2884394"/>
            <a:ext cx="1280160" cy="45720"/>
          </a:xfrm>
          <a:prstGeom prst="rect">
            <a:avLst/>
          </a:prstGeom>
          <a:solidFill>
            <a:srgbClr val="F2C4CE"/>
          </a:solidFill>
          <a:ln w="12700">
            <a:solidFill>
              <a:srgbClr val="F2C4C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·  TECHNICAL REPORT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817370"/>
            <a:ext cx="7132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Purchase Intent Prediction &amp; Conversion Optimization</a:t>
            </a:r>
            <a:endParaRPr lang="en-US" sz="3200" b="1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234757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cosmetic E-Commerce Platform</a:t>
            </a:r>
          </a:p>
          <a:p>
            <a:pPr>
              <a:lnSpc>
                <a:spcPct val="115000"/>
              </a:lnSpc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Are Shoppers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Leaving Without Buying?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54227" y="4367067"/>
            <a:ext cx="2560320" cy="411480"/>
          </a:xfrm>
          <a:prstGeom prst="rect">
            <a:avLst/>
          </a:prstGeom>
          <a:solidFill>
            <a:srgbClr val="C4687A">
              <a:alpha val="60000"/>
            </a:srgbClr>
          </a:solidFill>
          <a:ln w="12700">
            <a:solidFill>
              <a:srgbClr val="C468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6217920" y="4361621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Sun   ·  02  03 2026</a:t>
            </a:r>
            <a:endParaRPr lang="en-US" sz="16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392A464-665D-485D-7962-FAE60CB7759E}"/>
              </a:ext>
            </a:extLst>
          </p:cNvPr>
          <p:cNvSpPr/>
          <p:nvPr/>
        </p:nvSpPr>
        <p:spPr>
          <a:xfrm>
            <a:off x="36576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Session Analysis  ·  Eva Sun  ·  2026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2878554-3B15-379D-966D-15646056E008}"/>
              </a:ext>
            </a:extLst>
          </p:cNvPr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 dirty="0"/>
          </a:p>
        </p:txBody>
      </p:sp>
      <p:sp>
        <p:nvSpPr>
          <p:cNvPr id="3" name="Shape 1"/>
          <p:cNvSpPr/>
          <p:nvPr/>
        </p:nvSpPr>
        <p:spPr>
          <a:xfrm>
            <a:off x="777240" y="447675"/>
            <a:ext cx="1597660" cy="1609725"/>
          </a:xfrm>
          <a:prstGeom prst="ellipse">
            <a:avLst/>
          </a:prstGeom>
          <a:solidFill>
            <a:srgbClr val="F2C4CE">
              <a:alpha val="80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6858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" y="22402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Manager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7160" y="25786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Cosmetic Platform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2011680" cy="27432"/>
          </a:xfrm>
          <a:prstGeom prst="rect">
            <a:avLst/>
          </a:prstGeom>
          <a:solidFill>
            <a:srgbClr val="F2C4CE">
              <a:alpha val="60000"/>
            </a:srgbClr>
          </a:solidFill>
          <a:ln w="12700">
            <a:solidFill>
              <a:srgbClr val="F2C4C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5"/>
          <p:cNvSpPr/>
          <p:nvPr/>
        </p:nvSpPr>
        <p:spPr>
          <a:xfrm>
            <a:off x="137160" y="31089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82880" y="336499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Optimisation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Campaigns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Strategy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429000" y="2743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Are We Solving This For?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260725" y="786385"/>
            <a:ext cx="5700395" cy="45719"/>
          </a:xfrm>
          <a:prstGeom prst="rect">
            <a:avLst/>
          </a:prstGeom>
          <a:solidFill>
            <a:srgbClr val="F2C4CE"/>
          </a:solidFill>
          <a:ln w="12700">
            <a:solidFill>
              <a:srgbClr val="F2C4C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9"/>
          <p:cNvSpPr/>
          <p:nvPr/>
        </p:nvSpPr>
        <p:spPr>
          <a:xfrm>
            <a:off x="3429000" y="1005840"/>
            <a:ext cx="263525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Shape 10"/>
          <p:cNvSpPr/>
          <p:nvPr/>
        </p:nvSpPr>
        <p:spPr>
          <a:xfrm>
            <a:off x="3429000" y="1005840"/>
            <a:ext cx="2635250" cy="164592"/>
          </a:xfrm>
          <a:prstGeom prst="rect">
            <a:avLst/>
          </a:prstGeom>
          <a:solidFill>
            <a:srgbClr val="C4687A"/>
          </a:solidFill>
          <a:ln w="12700">
            <a:solidFill>
              <a:srgbClr val="C468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979" y="1248156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4394" y="1783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6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129405" y="2093976"/>
            <a:ext cx="1234440" cy="27432"/>
          </a:xfrm>
          <a:prstGeom prst="rect">
            <a:avLst/>
          </a:prstGeom>
          <a:solidFill>
            <a:srgbClr val="E8E0E2"/>
          </a:solidFill>
          <a:ln w="1270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3"/>
          <p:cNvSpPr/>
          <p:nvPr/>
        </p:nvSpPr>
        <p:spPr>
          <a:xfrm>
            <a:off x="3474720" y="2168838"/>
            <a:ext cx="2525268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which sessions will convert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casual browsers from real buyers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cart sessions abandon — no recovery system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65748" y="992065"/>
            <a:ext cx="2595372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2" name="Shape 17"/>
          <p:cNvSpPr/>
          <p:nvPr/>
        </p:nvSpPr>
        <p:spPr>
          <a:xfrm>
            <a:off x="6897370" y="2093976"/>
            <a:ext cx="1234440" cy="27432"/>
          </a:xfrm>
          <a:prstGeom prst="rect">
            <a:avLst/>
          </a:prstGeom>
          <a:solidFill>
            <a:srgbClr val="E8E0E2"/>
          </a:solidFill>
          <a:ln w="1270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18"/>
          <p:cNvSpPr/>
          <p:nvPr/>
        </p:nvSpPr>
        <p:spPr>
          <a:xfrm>
            <a:off x="6300724" y="2421450"/>
            <a:ext cx="263525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high-intent users in real time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conversion rate </a:t>
            </a:r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 with smart product recommendations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marketing budget more efficiently</a:t>
            </a:r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365748" y="993521"/>
            <a:ext cx="2595372" cy="16459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328" y="1272921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28968" y="17856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200" b="1" dirty="0">
                <a:solidFill>
                  <a:srgbClr val="4A7C59"/>
                </a:solidFill>
                <a:latin typeface="Georgia" pitchFamily="34" charset="0"/>
              </a:rPr>
              <a:t>Goals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26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35" name="Oval 34" descr="Person on busy street">
            <a:extLst>
              <a:ext uri="{FF2B5EF4-FFF2-40B4-BE49-F238E27FC236}">
                <a16:creationId xmlns:a16="http://schemas.microsoft.com/office/drawing/2014/main" id="{6DF94FC8-C29C-B4DF-9090-3322F32A9803}"/>
              </a:ext>
            </a:extLst>
          </p:cNvPr>
          <p:cNvSpPr/>
          <p:nvPr/>
        </p:nvSpPr>
        <p:spPr>
          <a:xfrm>
            <a:off x="743491" y="425829"/>
            <a:ext cx="1638786" cy="1638786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000" r="-25000"/>
            </a:stretch>
          </a:blipFill>
          <a:ln w="38100">
            <a:solidFill>
              <a:srgbClr val="DEC8C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B908893A-C443-8581-C7C3-F8EC0015E8AF}"/>
              </a:ext>
            </a:extLst>
          </p:cNvPr>
          <p:cNvSpPr/>
          <p:nvPr/>
        </p:nvSpPr>
        <p:spPr>
          <a:xfrm>
            <a:off x="548640" y="491032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Session Analysis  ·  Eva Sun  ·  2026</a:t>
            </a:r>
            <a:endParaRPr lang="en-US" sz="90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7CD7AB81-719D-2033-B8FF-07EDA4C25189}"/>
              </a:ext>
            </a:extLst>
          </p:cNvPr>
          <p:cNvSpPr/>
          <p:nvPr/>
        </p:nvSpPr>
        <p:spPr>
          <a:xfrm>
            <a:off x="8229600" y="49103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2" grpId="0" animBg="1"/>
      <p:bldP spid="23" grpId="0" animBg="1"/>
      <p:bldP spid="25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Data Are We Working With?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2019 – Feb 2020  ·  Cosmetic E-Commerce  ·  Russian Market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9235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011680" cy="109728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1704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0972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19.6M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01752" y="157276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</a:t>
            </a:r>
            <a:r>
              <a:rPr lang="en-US" altLang="zh-CN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68880" y="1005840"/>
            <a:ext cx="2011680" cy="9235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Shape 8"/>
          <p:cNvSpPr/>
          <p:nvPr/>
        </p:nvSpPr>
        <p:spPr>
          <a:xfrm>
            <a:off x="2468880" y="1005840"/>
            <a:ext cx="2011680" cy="109728"/>
          </a:xfrm>
          <a:prstGeom prst="rect">
            <a:avLst/>
          </a:prstGeom>
          <a:solidFill>
            <a:srgbClr val="C4687A"/>
          </a:solidFill>
          <a:ln w="12700">
            <a:solidFill>
              <a:srgbClr val="C468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117043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71800" y="10972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46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4.54M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542032" y="157276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Sessions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09160" y="1005840"/>
            <a:ext cx="2011680" cy="9235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6" name="Shape 12"/>
          <p:cNvSpPr/>
          <p:nvPr/>
        </p:nvSpPr>
        <p:spPr>
          <a:xfrm>
            <a:off x="4709160" y="1005840"/>
            <a:ext cx="2011680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17043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12080" y="10972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~1.3M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4782312" y="157276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49440" y="1005840"/>
            <a:ext cx="2011680" cy="9235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Shape 16"/>
          <p:cNvSpPr/>
          <p:nvPr/>
        </p:nvSpPr>
        <p:spPr>
          <a:xfrm>
            <a:off x="6949440" y="1005840"/>
            <a:ext cx="2011680" cy="109728"/>
          </a:xfrm>
          <a:prstGeom prst="rect">
            <a:avLst/>
          </a:prstGeom>
          <a:solidFill>
            <a:srgbClr val="6BAF7A"/>
          </a:solidFill>
          <a:ln w="12700">
            <a:solidFill>
              <a:srgbClr val="6BAF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168" y="117043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10972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A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525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7022592" y="157276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168613" y="2098548"/>
            <a:ext cx="4174787" cy="290795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 dirty="0"/>
          </a:p>
        </p:txBody>
      </p:sp>
      <p:sp>
        <p:nvSpPr>
          <p:cNvPr id="30" name="Text 23"/>
          <p:cNvSpPr/>
          <p:nvPr/>
        </p:nvSpPr>
        <p:spPr>
          <a:xfrm>
            <a:off x="4672584" y="240535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Price Range 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732020" y="2991936"/>
            <a:ext cx="960120" cy="566928"/>
          </a:xfrm>
          <a:prstGeom prst="rect">
            <a:avLst/>
          </a:prstGeom>
          <a:solidFill>
            <a:srgbClr val="F2C4CE"/>
          </a:solidFill>
          <a:ln w="12700">
            <a:solidFill>
              <a:srgbClr val="F2C4C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25"/>
          <p:cNvSpPr/>
          <p:nvPr/>
        </p:nvSpPr>
        <p:spPr>
          <a:xfrm>
            <a:off x="4718304" y="300565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</a:t>
            </a:r>
            <a:r>
              <a:rPr lang="en-SG" sz="15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.7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718304" y="3334836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pct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5751576" y="3005652"/>
            <a:ext cx="960120" cy="566928"/>
          </a:xfrm>
          <a:prstGeom prst="rect">
            <a:avLst/>
          </a:prstGeom>
          <a:solidFill>
            <a:srgbClr val="F2C4CE"/>
          </a:solidFill>
          <a:ln w="12700">
            <a:solidFill>
              <a:srgbClr val="F2C4C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28"/>
          <p:cNvSpPr/>
          <p:nvPr/>
        </p:nvSpPr>
        <p:spPr>
          <a:xfrm>
            <a:off x="5751576" y="300565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$13.8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5765292" y="332112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6784848" y="2999270"/>
            <a:ext cx="960120" cy="566928"/>
          </a:xfrm>
          <a:prstGeom prst="rect">
            <a:avLst/>
          </a:prstGeom>
          <a:solidFill>
            <a:srgbClr val="C4687A"/>
          </a:solidFill>
          <a:ln w="12700">
            <a:solidFill>
              <a:srgbClr val="C468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31"/>
          <p:cNvSpPr/>
          <p:nvPr/>
        </p:nvSpPr>
        <p:spPr>
          <a:xfrm>
            <a:off x="6784848" y="300565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$30.1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6784848" y="3334836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 pct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7831836" y="2991936"/>
            <a:ext cx="960120" cy="566928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Text 34"/>
          <p:cNvSpPr/>
          <p:nvPr/>
        </p:nvSpPr>
        <p:spPr>
          <a:xfrm>
            <a:off x="7818120" y="300565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$327.8</a:t>
            </a:r>
            <a:endParaRPr lang="en-US" sz="1500" dirty="0"/>
          </a:p>
        </p:txBody>
      </p:sp>
      <p:sp>
        <p:nvSpPr>
          <p:cNvPr id="42" name="Text 35"/>
          <p:cNvSpPr/>
          <p:nvPr/>
        </p:nvSpPr>
        <p:spPr>
          <a:xfrm>
            <a:off x="7818120" y="3334836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8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682ED67-3A11-406F-A6C8-48472B3C52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9885" y="2136092"/>
            <a:ext cx="1543515" cy="151573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7816" y="2223747"/>
            <a:ext cx="1352793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event types across all sessions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256032" y="21181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in a Session?</a:t>
            </a:r>
            <a:endParaRPr lang="en-US" sz="1200" dirty="0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C05992C6-529A-963F-5791-834EE231E45A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03E01F28-36E1-F556-242D-3352B39AF8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752" y="3716125"/>
            <a:ext cx="4007611" cy="1055955"/>
          </a:xfrm>
          <a:prstGeom prst="rect">
            <a:avLst/>
          </a:prstGeom>
        </p:spPr>
      </p:pic>
      <p:sp>
        <p:nvSpPr>
          <p:cNvPr id="62" name="Text 8">
            <a:extLst>
              <a:ext uri="{FF2B5EF4-FFF2-40B4-BE49-F238E27FC236}">
                <a16:creationId xmlns:a16="http://schemas.microsoft.com/office/drawing/2014/main" id="{562F98C2-13E9-C56A-13E6-25384765AAC8}"/>
              </a:ext>
            </a:extLst>
          </p:cNvPr>
          <p:cNvSpPr/>
          <p:nvPr/>
        </p:nvSpPr>
        <p:spPr>
          <a:xfrm>
            <a:off x="36576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Session Analysis  ·  Eva Sun  ·  2026</a:t>
            </a:r>
            <a:endParaRPr lang="en-US" sz="900" dirty="0"/>
          </a:p>
        </p:txBody>
      </p:sp>
      <p:sp>
        <p:nvSpPr>
          <p:cNvPr id="63" name="Text 9">
            <a:extLst>
              <a:ext uri="{FF2B5EF4-FFF2-40B4-BE49-F238E27FC236}">
                <a16:creationId xmlns:a16="http://schemas.microsoft.com/office/drawing/2014/main" id="{6D61E8A9-2663-BEDE-43E3-1657493894CC}"/>
              </a:ext>
            </a:extLst>
          </p:cNvPr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D146344-6295-E64C-E8BF-6F8408C5ED4A}"/>
              </a:ext>
            </a:extLst>
          </p:cNvPr>
          <p:cNvSpPr txBox="1"/>
          <p:nvPr/>
        </p:nvSpPr>
        <p:spPr>
          <a:xfrm>
            <a:off x="213530" y="3360489"/>
            <a:ext cx="224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Duration</a:t>
            </a:r>
            <a:endParaRPr lang="en-SG" sz="1200" dirty="0"/>
          </a:p>
          <a:p>
            <a:endParaRPr lang="en-SG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7D2E4F">
              <a:alpha val="22000"/>
            </a:srgbClr>
          </a:solidFill>
          <a:ln w="12700">
            <a:solidFill>
              <a:srgbClr val="7D2E4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500" dirty="0">
                <a:solidFill>
                  <a:srgbClr val="C4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3.43</a:t>
            </a:r>
            <a:r>
              <a:rPr lang="en-US" sz="5200" b="1" dirty="0">
                <a:solidFill>
                  <a:srgbClr val="F2C4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02920" y="1993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Purchase Conversion Rate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868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 of every 100 visitors,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3 make a purchase.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8138160" cy="27432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4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1 person out of 100 visitors</a:t>
            </a:r>
            <a:endParaRPr lang="en-US" sz="950" dirty="0"/>
          </a:p>
        </p:txBody>
      </p:sp>
      <p:pic>
        <p:nvPicPr>
          <p:cNvPr id="9" name="Image 0" descr="/home/claude/peopl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0"/>
            <a:ext cx="8595360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8"/>
          <p:cNvSpPr/>
          <p:nvPr/>
        </p:nvSpPr>
        <p:spPr>
          <a:xfrm>
            <a:off x="36576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Session Analysis  ·  Eva Sun  · 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CBAB5-146D-24BC-5D2E-3E3A3FDE1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A2C07C-1FF0-80D7-C155-D3CA6FC43A16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BC9D54-8AC8-AB28-332C-DC32AB8A8EA4}"/>
              </a:ext>
            </a:extLst>
          </p:cNvPr>
          <p:cNvSpPr/>
          <p:nvPr/>
        </p:nvSpPr>
        <p:spPr>
          <a:xfrm>
            <a:off x="45720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Analytical Approach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60ADED-4A9C-E94E-192F-80934FE1BE68}"/>
              </a:ext>
            </a:extLst>
          </p:cNvPr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stages from raw data to actionable recommendations</a:t>
            </a:r>
            <a:endParaRPr lang="en-US" sz="1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573F703-CFAC-D3FD-8801-D9A92F51F07B}"/>
              </a:ext>
            </a:extLst>
          </p:cNvPr>
          <p:cNvSpPr/>
          <p:nvPr/>
        </p:nvSpPr>
        <p:spPr>
          <a:xfrm>
            <a:off x="393192" y="1877109"/>
            <a:ext cx="1572768" cy="1055526"/>
          </a:xfrm>
          <a:prstGeom prst="rect">
            <a:avLst/>
          </a:prstGeom>
          <a:solidFill>
            <a:srgbClr val="F2C4CE"/>
          </a:solidFill>
          <a:ln w="12700">
            <a:solidFill>
              <a:srgbClr val="F2C4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200BE2D-BACD-FF47-9738-F0E44A6BAB60}"/>
              </a:ext>
            </a:extLst>
          </p:cNvPr>
          <p:cNvSpPr/>
          <p:nvPr/>
        </p:nvSpPr>
        <p:spPr>
          <a:xfrm>
            <a:off x="438912" y="1922829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CE5E08-DF0F-9F31-6A38-0DA67825ABB9}"/>
              </a:ext>
            </a:extLst>
          </p:cNvPr>
          <p:cNvSpPr/>
          <p:nvPr/>
        </p:nvSpPr>
        <p:spPr>
          <a:xfrm>
            <a:off x="393192" y="2123997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BF20F9C-63BF-C5C7-AF6B-7AE3D682742A}"/>
              </a:ext>
            </a:extLst>
          </p:cNvPr>
          <p:cNvSpPr/>
          <p:nvPr/>
        </p:nvSpPr>
        <p:spPr>
          <a:xfrm>
            <a:off x="274320" y="180136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775A83A-0BDE-6426-08F0-4FFEE57C00ED}"/>
              </a:ext>
            </a:extLst>
          </p:cNvPr>
          <p:cNvSpPr/>
          <p:nvPr/>
        </p:nvSpPr>
        <p:spPr>
          <a:xfrm>
            <a:off x="1970532" y="2444037"/>
            <a:ext cx="109728" cy="54864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86C486E-5D64-942B-8FAA-7381A8B14A9E}"/>
              </a:ext>
            </a:extLst>
          </p:cNvPr>
          <p:cNvSpPr/>
          <p:nvPr/>
        </p:nvSpPr>
        <p:spPr>
          <a:xfrm>
            <a:off x="2057400" y="1877109"/>
            <a:ext cx="1572768" cy="1055526"/>
          </a:xfrm>
          <a:prstGeom prst="rect">
            <a:avLst/>
          </a:prstGeom>
          <a:solidFill>
            <a:srgbClr val="F2C4CE"/>
          </a:solidFill>
          <a:ln w="12700">
            <a:solidFill>
              <a:srgbClr val="F2C4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AE8D5C5-979A-2D47-B7AB-208CC6F2C61B}"/>
              </a:ext>
            </a:extLst>
          </p:cNvPr>
          <p:cNvSpPr/>
          <p:nvPr/>
        </p:nvSpPr>
        <p:spPr>
          <a:xfrm>
            <a:off x="2103120" y="1922829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E515146-0F60-2728-17D8-19840E4FA7C9}"/>
              </a:ext>
            </a:extLst>
          </p:cNvPr>
          <p:cNvSpPr/>
          <p:nvPr/>
        </p:nvSpPr>
        <p:spPr>
          <a:xfrm>
            <a:off x="2057400" y="2123997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DEECDFB-0266-2E50-D173-1E9C82E729A1}"/>
              </a:ext>
            </a:extLst>
          </p:cNvPr>
          <p:cNvSpPr/>
          <p:nvPr/>
        </p:nvSpPr>
        <p:spPr>
          <a:xfrm>
            <a:off x="3630168" y="2416605"/>
            <a:ext cx="109728" cy="54864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4AD69B5-8EBB-F9A9-250E-59FE4625E6EE}"/>
              </a:ext>
            </a:extLst>
          </p:cNvPr>
          <p:cNvSpPr/>
          <p:nvPr/>
        </p:nvSpPr>
        <p:spPr>
          <a:xfrm>
            <a:off x="3712464" y="1877109"/>
            <a:ext cx="1572768" cy="1055526"/>
          </a:xfrm>
          <a:prstGeom prst="rect">
            <a:avLst/>
          </a:prstGeom>
          <a:solidFill>
            <a:srgbClr val="C4687A"/>
          </a:solidFill>
          <a:ln w="12700">
            <a:solidFill>
              <a:srgbClr val="C468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180D89F-9C38-9000-C754-EE42AEE7D8B1}"/>
              </a:ext>
            </a:extLst>
          </p:cNvPr>
          <p:cNvSpPr/>
          <p:nvPr/>
        </p:nvSpPr>
        <p:spPr>
          <a:xfrm>
            <a:off x="3767328" y="1922829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66C8ACC-6E62-954A-8C80-EEC3784C3354}"/>
              </a:ext>
            </a:extLst>
          </p:cNvPr>
          <p:cNvSpPr/>
          <p:nvPr/>
        </p:nvSpPr>
        <p:spPr>
          <a:xfrm>
            <a:off x="3721608" y="2123997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2D14FCE-2919-61EA-4776-EFA8B70F6058}"/>
              </a:ext>
            </a:extLst>
          </p:cNvPr>
          <p:cNvSpPr/>
          <p:nvPr/>
        </p:nvSpPr>
        <p:spPr>
          <a:xfrm>
            <a:off x="5264150" y="2389173"/>
            <a:ext cx="109728" cy="54864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BE5B6D6-81E0-B4F2-4BE9-522DA7A16E1A}"/>
              </a:ext>
            </a:extLst>
          </p:cNvPr>
          <p:cNvSpPr/>
          <p:nvPr/>
        </p:nvSpPr>
        <p:spPr>
          <a:xfrm>
            <a:off x="5376672" y="1877109"/>
            <a:ext cx="1572768" cy="1055526"/>
          </a:xfrm>
          <a:prstGeom prst="rect">
            <a:avLst/>
          </a:prstGeom>
          <a:solidFill>
            <a:srgbClr val="C4687A"/>
          </a:solidFill>
          <a:ln w="12700">
            <a:solidFill>
              <a:srgbClr val="C468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A50D448-1400-F382-0578-2AD8F07D2F50}"/>
              </a:ext>
            </a:extLst>
          </p:cNvPr>
          <p:cNvSpPr/>
          <p:nvPr/>
        </p:nvSpPr>
        <p:spPr>
          <a:xfrm>
            <a:off x="5431536" y="1922829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B3C0627-80C5-2EE3-F9F2-7144BBB692DF}"/>
              </a:ext>
            </a:extLst>
          </p:cNvPr>
          <p:cNvSpPr/>
          <p:nvPr/>
        </p:nvSpPr>
        <p:spPr>
          <a:xfrm>
            <a:off x="5358384" y="2123997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Segment.</a:t>
            </a:r>
            <a:endParaRPr lang="en-US" sz="12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ECAA736-75C8-0F07-608F-B648007F1646}"/>
              </a:ext>
            </a:extLst>
          </p:cNvPr>
          <p:cNvSpPr/>
          <p:nvPr/>
        </p:nvSpPr>
        <p:spPr>
          <a:xfrm>
            <a:off x="6903720" y="2357804"/>
            <a:ext cx="109728" cy="54864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CC2B899-1F96-5683-7C36-BEF22EF8F325}"/>
              </a:ext>
            </a:extLst>
          </p:cNvPr>
          <p:cNvSpPr/>
          <p:nvPr/>
        </p:nvSpPr>
        <p:spPr>
          <a:xfrm>
            <a:off x="7022592" y="1877109"/>
            <a:ext cx="1572768" cy="1055526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C178984-58FD-712A-8143-76ADBE3FC3D6}"/>
              </a:ext>
            </a:extLst>
          </p:cNvPr>
          <p:cNvSpPr/>
          <p:nvPr/>
        </p:nvSpPr>
        <p:spPr>
          <a:xfrm>
            <a:off x="7095744" y="1922829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EFEC8F4-517A-47F0-2B7B-2DD5FBC6FAE1}"/>
              </a:ext>
            </a:extLst>
          </p:cNvPr>
          <p:cNvSpPr/>
          <p:nvPr/>
        </p:nvSpPr>
        <p:spPr>
          <a:xfrm>
            <a:off x="7022592" y="2123997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 &amp;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Recommend.</a:t>
            </a:r>
            <a:endParaRPr lang="en-US" sz="1200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D402A3DF-7FC9-95CF-78B2-0EA2B927BAC0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4" name="Text 18">
            <a:extLst>
              <a:ext uri="{FF2B5EF4-FFF2-40B4-BE49-F238E27FC236}">
                <a16:creationId xmlns:a16="http://schemas.microsoft.com/office/drawing/2014/main" id="{BD2D12E5-7FB5-0608-CE1F-4088B5CE3A5D}"/>
              </a:ext>
            </a:extLst>
          </p:cNvPr>
          <p:cNvSpPr/>
          <p:nvPr/>
        </p:nvSpPr>
        <p:spPr>
          <a:xfrm>
            <a:off x="36576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Session Analysis  ·  Eva Sun  ·  2026</a:t>
            </a:r>
            <a:endParaRPr lang="en-US" sz="900" dirty="0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F09E6CFD-3EF9-B585-E793-4AC9942863F7}"/>
              </a:ext>
            </a:extLst>
          </p:cNvPr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 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60566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the Money Walk Out the Door?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6634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5120640" y="960120"/>
            <a:ext cx="379476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Shape 4"/>
          <p:cNvSpPr/>
          <p:nvPr/>
        </p:nvSpPr>
        <p:spPr>
          <a:xfrm>
            <a:off x="5120640" y="960120"/>
            <a:ext cx="3794760" cy="128016"/>
          </a:xfrm>
          <a:prstGeom prst="rect">
            <a:avLst/>
          </a:prstGeom>
          <a:solidFill>
            <a:srgbClr val="C4687A"/>
          </a:solidFill>
          <a:ln w="12700">
            <a:solidFill>
              <a:srgbClr val="C468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5"/>
          <p:cNvSpPr/>
          <p:nvPr/>
        </p:nvSpPr>
        <p:spPr>
          <a:xfrm>
            <a:off x="5257800" y="111556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6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Drop-off 1  ·  View → Cart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57800" y="14264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81.6%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727648" y="1959102"/>
            <a:ext cx="170590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of visitors who browse</a:t>
            </a:r>
            <a:endParaRPr lang="en-US" sz="1200" dirty="0">
              <a:latin typeface="Georgia" panose="020405020504050203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never add to cart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120640" y="2724912"/>
            <a:ext cx="379476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Shape 10"/>
          <p:cNvSpPr/>
          <p:nvPr/>
        </p:nvSpPr>
        <p:spPr>
          <a:xfrm>
            <a:off x="5120640" y="2724912"/>
            <a:ext cx="3794760" cy="128016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1"/>
          <p:cNvSpPr/>
          <p:nvPr/>
        </p:nvSpPr>
        <p:spPr>
          <a:xfrm>
            <a:off x="5257800" y="288036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Drop-off 2  ·  Cart → Purchase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57800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86.5%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727648" y="3634740"/>
            <a:ext cx="21015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of shoppers who add to cart</a:t>
            </a:r>
            <a:endParaRPr lang="en-US" sz="1200" dirty="0">
              <a:latin typeface="Georgia" panose="020405020504050203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leave without buying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8"/>
          <p:cNvSpPr/>
          <p:nvPr/>
        </p:nvSpPr>
        <p:spPr>
          <a:xfrm>
            <a:off x="36576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Session Analysis  ·  Eva Sun  · 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B329D8C-1FDF-4E9B-2B52-908147E7D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1391259"/>
            <a:ext cx="4590288" cy="3089301"/>
          </a:xfrm>
          <a:prstGeom prst="rect">
            <a:avLst/>
          </a:prstGeom>
        </p:spPr>
      </p:pic>
      <p:sp>
        <p:nvSpPr>
          <p:cNvPr id="24" name="Text 23">
            <a:extLst>
              <a:ext uri="{FF2B5EF4-FFF2-40B4-BE49-F238E27FC236}">
                <a16:creationId xmlns:a16="http://schemas.microsoft.com/office/drawing/2014/main" id="{0066A856-AE6F-AB6B-FA24-CD1DA654D53D}"/>
              </a:ext>
            </a:extLst>
          </p:cNvPr>
          <p:cNvSpPr/>
          <p:nvPr/>
        </p:nvSpPr>
        <p:spPr>
          <a:xfrm>
            <a:off x="228600" y="99038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 Analysis</a:t>
            </a:r>
            <a:endParaRPr lang="en-US" sz="12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6F4E508-E40A-E299-F03F-9B6DFF8C0684}"/>
              </a:ext>
            </a:extLst>
          </p:cNvPr>
          <p:cNvCxnSpPr>
            <a:cxnSpLocks/>
          </p:cNvCxnSpPr>
          <p:nvPr/>
        </p:nvCxnSpPr>
        <p:spPr>
          <a:xfrm>
            <a:off x="714375" y="3825875"/>
            <a:ext cx="23812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308D5A2-9AFB-DB9A-F405-892483724C1B}"/>
              </a:ext>
            </a:extLst>
          </p:cNvPr>
          <p:cNvSpPr txBox="1"/>
          <p:nvPr/>
        </p:nvSpPr>
        <p:spPr>
          <a:xfrm>
            <a:off x="1590675" y="3573780"/>
            <a:ext cx="885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18%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Analytical Approach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stages from raw data to actionable recommendations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90070" y="1051560"/>
            <a:ext cx="1572768" cy="1055526"/>
          </a:xfrm>
          <a:prstGeom prst="rect">
            <a:avLst/>
          </a:prstGeom>
          <a:solidFill>
            <a:srgbClr val="F7EAED"/>
          </a:solidFill>
          <a:ln w="12700">
            <a:solidFill>
              <a:srgbClr val="F2C4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EC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>
              <a:solidFill>
                <a:srgbClr val="DEC8C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90070" y="129844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EC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200" dirty="0">
              <a:solidFill>
                <a:srgbClr val="DEC8CF"/>
              </a:solidFill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EC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</a:t>
            </a:r>
            <a:endParaRPr lang="en-US" sz="1200" dirty="0">
              <a:solidFill>
                <a:srgbClr val="DEC8C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47088" y="1591056"/>
            <a:ext cx="109728" cy="54864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1954278" y="1051560"/>
            <a:ext cx="1572768" cy="1055526"/>
          </a:xfrm>
          <a:prstGeom prst="rect">
            <a:avLst/>
          </a:prstGeom>
          <a:solidFill>
            <a:srgbClr val="F7EAED"/>
          </a:solidFill>
          <a:ln w="12700">
            <a:solidFill>
              <a:srgbClr val="F2C4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2011680" y="109728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EC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>
              <a:solidFill>
                <a:srgbClr val="DEC8C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38528" y="129844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EC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</a:t>
            </a:r>
            <a:endParaRPr lang="en-US" sz="1200" dirty="0">
              <a:solidFill>
                <a:srgbClr val="DEC8CF"/>
              </a:solidFill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EC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200" dirty="0">
              <a:solidFill>
                <a:srgbClr val="DEC8C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511296" y="1591056"/>
            <a:ext cx="109728" cy="54864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3602736" y="1051560"/>
            <a:ext cx="1572768" cy="1055526"/>
          </a:xfrm>
          <a:prstGeom prst="rect">
            <a:avLst/>
          </a:prstGeom>
          <a:solidFill>
            <a:srgbClr val="C4687A"/>
          </a:solidFill>
          <a:ln w="12700">
            <a:solidFill>
              <a:srgbClr val="C468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3675888" y="109728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02736" y="129844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75504" y="1591056"/>
            <a:ext cx="109728" cy="54864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Shape 18"/>
          <p:cNvSpPr/>
          <p:nvPr/>
        </p:nvSpPr>
        <p:spPr>
          <a:xfrm>
            <a:off x="5266944" y="1051560"/>
            <a:ext cx="1572768" cy="1055526"/>
          </a:xfrm>
          <a:prstGeom prst="rect">
            <a:avLst/>
          </a:prstGeom>
          <a:solidFill>
            <a:srgbClr val="F7EAED"/>
          </a:solidFill>
          <a:ln w="12700">
            <a:solidFill>
              <a:srgbClr val="C468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5340096" y="109728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EC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>
              <a:solidFill>
                <a:srgbClr val="DEC8C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66944" y="129844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EC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</a:t>
            </a:r>
            <a:endParaRPr lang="en-US" sz="1200" dirty="0">
              <a:solidFill>
                <a:srgbClr val="DEC8CF"/>
              </a:solidFill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EC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Segment.</a:t>
            </a:r>
            <a:endParaRPr lang="en-US" sz="1200" dirty="0">
              <a:solidFill>
                <a:srgbClr val="DEC8C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39712" y="1591056"/>
            <a:ext cx="109728" cy="54864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Shape 23"/>
          <p:cNvSpPr/>
          <p:nvPr/>
        </p:nvSpPr>
        <p:spPr>
          <a:xfrm>
            <a:off x="6931152" y="1051560"/>
            <a:ext cx="1572768" cy="1055526"/>
          </a:xfrm>
          <a:prstGeom prst="rect">
            <a:avLst/>
          </a:prstGeom>
          <a:solidFill>
            <a:srgbClr val="F7EAED"/>
          </a:solidFill>
          <a:ln w="12700">
            <a:solidFill>
              <a:srgbClr val="7D2E4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7004304" y="109728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EC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>
              <a:solidFill>
                <a:srgbClr val="DEC8CF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31152" y="129844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EC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 &amp;</a:t>
            </a:r>
            <a:endParaRPr lang="en-US" sz="1200" dirty="0">
              <a:solidFill>
                <a:srgbClr val="DEC8CF"/>
              </a:solidFill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EC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Recommend.</a:t>
            </a:r>
            <a:endParaRPr lang="en-US" sz="1200" dirty="0">
              <a:solidFill>
                <a:srgbClr val="DEC8CF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216918" y="2319133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Fed Into the Model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65760" y="2834640"/>
            <a:ext cx="8412480" cy="27432"/>
          </a:xfrm>
          <a:prstGeom prst="rect">
            <a:avLst/>
          </a:prstGeom>
          <a:solidFill>
            <a:srgbClr val="F2C4CE"/>
          </a:solidFill>
          <a:ln w="12700">
            <a:solidFill>
              <a:srgbClr val="F2C4C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Shape 29"/>
          <p:cNvSpPr/>
          <p:nvPr/>
        </p:nvSpPr>
        <p:spPr>
          <a:xfrm>
            <a:off x="274320" y="2936974"/>
            <a:ext cx="2011680" cy="97208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347472" y="3101565"/>
            <a:ext cx="1865376" cy="48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views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4612" y="3372188"/>
            <a:ext cx="1865376" cy="391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they browsed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395728" y="2936974"/>
            <a:ext cx="2011680" cy="97208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2468880" y="3101565"/>
            <a:ext cx="1865376" cy="48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cart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23744" y="3379614"/>
            <a:ext cx="1865376" cy="391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Add-to-cart count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17136" y="2936974"/>
            <a:ext cx="2011680" cy="97208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 sz="2400"/>
          </a:p>
        </p:txBody>
      </p:sp>
      <p:sp>
        <p:nvSpPr>
          <p:cNvPr id="41" name="Text 39"/>
          <p:cNvSpPr/>
          <p:nvPr/>
        </p:nvSpPr>
        <p:spPr>
          <a:xfrm>
            <a:off x="4590288" y="3101565"/>
            <a:ext cx="1865376" cy="48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remove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13148" y="3389602"/>
            <a:ext cx="1865376" cy="391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removals (hesitation)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638544" y="2936974"/>
            <a:ext cx="2011680" cy="97208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4" name="Shape 42"/>
          <p:cNvSpPr/>
          <p:nvPr/>
        </p:nvSpPr>
        <p:spPr>
          <a:xfrm>
            <a:off x="6649787" y="2947092"/>
            <a:ext cx="2016000" cy="2520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5" name="Text 43"/>
          <p:cNvSpPr/>
          <p:nvPr/>
        </p:nvSpPr>
        <p:spPr>
          <a:xfrm>
            <a:off x="6711696" y="3101565"/>
            <a:ext cx="1865376" cy="48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</a:t>
            </a: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711696" y="3414439"/>
            <a:ext cx="1865376" cy="391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variety explored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4041647"/>
            <a:ext cx="2011680" cy="870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9" name="Text 47"/>
          <p:cNvSpPr/>
          <p:nvPr/>
        </p:nvSpPr>
        <p:spPr>
          <a:xfrm>
            <a:off x="347472" y="4206240"/>
            <a:ext cx="1865376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duration(min)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10377" y="4486867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in session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395728" y="4041647"/>
            <a:ext cx="2011680" cy="870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2" name="Shape 50"/>
          <p:cNvSpPr/>
          <p:nvPr/>
        </p:nvSpPr>
        <p:spPr>
          <a:xfrm>
            <a:off x="2407158" y="2958864"/>
            <a:ext cx="2016000" cy="2520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3" name="Text 51"/>
          <p:cNvSpPr/>
          <p:nvPr/>
        </p:nvSpPr>
        <p:spPr>
          <a:xfrm>
            <a:off x="2468880" y="4206240"/>
            <a:ext cx="1865376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view_depth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468880" y="449612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 per view 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517136" y="4041647"/>
            <a:ext cx="2011680" cy="870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7" name="Text 55"/>
          <p:cNvSpPr/>
          <p:nvPr/>
        </p:nvSpPr>
        <p:spPr>
          <a:xfrm>
            <a:off x="4590288" y="4206240"/>
            <a:ext cx="1865376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single_view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590288" y="4505248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</a:t>
            </a:r>
            <a:r>
              <a:rPr lang="en-US" altLang="zh-CN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viewed 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638544" y="4041647"/>
            <a:ext cx="2011680" cy="870509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0" name="Shape 58"/>
          <p:cNvSpPr/>
          <p:nvPr/>
        </p:nvSpPr>
        <p:spPr>
          <a:xfrm>
            <a:off x="6638544" y="4041648"/>
            <a:ext cx="2016000" cy="252000"/>
          </a:xfrm>
          <a:prstGeom prst="rect">
            <a:avLst/>
          </a:prstGeom>
          <a:solidFill>
            <a:srgbClr val="C4687A"/>
          </a:solidFill>
          <a:ln w="12700">
            <a:solidFill>
              <a:srgbClr val="C468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1" name="Text 59"/>
          <p:cNvSpPr/>
          <p:nvPr/>
        </p:nvSpPr>
        <p:spPr>
          <a:xfrm>
            <a:off x="6711696" y="4206240"/>
            <a:ext cx="1865376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hesitation_rate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711696" y="449612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/adds to cart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Shape 34"/>
          <p:cNvSpPr/>
          <p:nvPr/>
        </p:nvSpPr>
        <p:spPr>
          <a:xfrm>
            <a:off x="274320" y="4029338"/>
            <a:ext cx="2016000" cy="25200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4" name="Text 18">
            <a:extLst>
              <a:ext uri="{FF2B5EF4-FFF2-40B4-BE49-F238E27FC236}">
                <a16:creationId xmlns:a16="http://schemas.microsoft.com/office/drawing/2014/main" id="{905E1371-6DBF-E068-24DF-C897A4B15B19}"/>
              </a:ext>
            </a:extLst>
          </p:cNvPr>
          <p:cNvSpPr/>
          <p:nvPr/>
        </p:nvSpPr>
        <p:spPr>
          <a:xfrm>
            <a:off x="36576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Session Analysis  ·  Eva Sun  ·  2026</a:t>
            </a:r>
            <a:endParaRPr lang="en-US" sz="900" dirty="0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C30766FD-A89B-745B-6E29-90EB74ED8E5F}"/>
              </a:ext>
            </a:extLst>
          </p:cNvPr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 14</a:t>
            </a:r>
            <a:endParaRPr lang="en-US" sz="900" dirty="0"/>
          </a:p>
        </p:txBody>
      </p:sp>
      <p:sp>
        <p:nvSpPr>
          <p:cNvPr id="76" name="Shape 54">
            <a:extLst>
              <a:ext uri="{FF2B5EF4-FFF2-40B4-BE49-F238E27FC236}">
                <a16:creationId xmlns:a16="http://schemas.microsoft.com/office/drawing/2014/main" id="{110EEC07-1090-7FE2-D73C-313328625F6B}"/>
              </a:ext>
            </a:extLst>
          </p:cNvPr>
          <p:cNvSpPr/>
          <p:nvPr/>
        </p:nvSpPr>
        <p:spPr>
          <a:xfrm>
            <a:off x="274320" y="2951198"/>
            <a:ext cx="2016000" cy="252000"/>
          </a:xfrm>
          <a:prstGeom prst="rect">
            <a:avLst/>
          </a:prstGeom>
          <a:solidFill>
            <a:srgbClr val="6BAF7A"/>
          </a:solidFill>
          <a:ln w="12700">
            <a:solidFill>
              <a:srgbClr val="6BAF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7" name="Shape 54">
            <a:extLst>
              <a:ext uri="{FF2B5EF4-FFF2-40B4-BE49-F238E27FC236}">
                <a16:creationId xmlns:a16="http://schemas.microsoft.com/office/drawing/2014/main" id="{FE3570CD-2491-1684-EB46-4C1675EA2B22}"/>
              </a:ext>
            </a:extLst>
          </p:cNvPr>
          <p:cNvSpPr/>
          <p:nvPr/>
        </p:nvSpPr>
        <p:spPr>
          <a:xfrm>
            <a:off x="4536121" y="2950947"/>
            <a:ext cx="2016000" cy="252000"/>
          </a:xfrm>
          <a:prstGeom prst="rect">
            <a:avLst/>
          </a:prstGeom>
          <a:solidFill>
            <a:srgbClr val="6BAF7A"/>
          </a:solidFill>
          <a:ln w="12700">
            <a:solidFill>
              <a:srgbClr val="6BAF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8" name="Shape 58">
            <a:extLst>
              <a:ext uri="{FF2B5EF4-FFF2-40B4-BE49-F238E27FC236}">
                <a16:creationId xmlns:a16="http://schemas.microsoft.com/office/drawing/2014/main" id="{3E589AA8-80BC-47E6-B8E3-6E93F498EAB6}"/>
              </a:ext>
            </a:extLst>
          </p:cNvPr>
          <p:cNvSpPr/>
          <p:nvPr/>
        </p:nvSpPr>
        <p:spPr>
          <a:xfrm>
            <a:off x="2423160" y="4044833"/>
            <a:ext cx="2016000" cy="252000"/>
          </a:xfrm>
          <a:prstGeom prst="rect">
            <a:avLst/>
          </a:prstGeom>
          <a:solidFill>
            <a:srgbClr val="C4687A"/>
          </a:solidFill>
          <a:ln w="12700">
            <a:solidFill>
              <a:srgbClr val="C468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0" name="Shape 34">
            <a:extLst>
              <a:ext uri="{FF2B5EF4-FFF2-40B4-BE49-F238E27FC236}">
                <a16:creationId xmlns:a16="http://schemas.microsoft.com/office/drawing/2014/main" id="{61BBD58F-D06D-25BF-6DE0-FB5BD6B45662}"/>
              </a:ext>
            </a:extLst>
          </p:cNvPr>
          <p:cNvSpPr/>
          <p:nvPr/>
        </p:nvSpPr>
        <p:spPr>
          <a:xfrm>
            <a:off x="4553712" y="4032913"/>
            <a:ext cx="2016000" cy="25200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Model Performed Best?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3 models — here's why LightGBM wins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64592" cy="676656"/>
          </a:xfrm>
          <a:prstGeom prst="rect">
            <a:avLst/>
          </a:prstGeom>
          <a:solidFill>
            <a:srgbClr val="E8E0E2"/>
          </a:solidFill>
          <a:ln w="1270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40280" y="11704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0.9143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40280" y="1481328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44368" y="11704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44368" y="1481328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48456" y="11704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48456" y="1481328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1847088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274320" y="1847088"/>
            <a:ext cx="164592" cy="676656"/>
          </a:xfrm>
          <a:prstGeom prst="rect">
            <a:avLst/>
          </a:prstGeom>
          <a:solidFill>
            <a:srgbClr val="E8E0E2"/>
          </a:solidFill>
          <a:ln w="1270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548640" y="1938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 (optimised)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0280" y="19385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0.9143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40280" y="2249424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944368" y="19385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944368" y="2249424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48456" y="19385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48456" y="2249424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2615184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2"/>
          <p:cNvSpPr/>
          <p:nvPr/>
        </p:nvSpPr>
        <p:spPr>
          <a:xfrm>
            <a:off x="274320" y="2615184"/>
            <a:ext cx="164592" cy="676656"/>
          </a:xfrm>
          <a:prstGeom prst="rect">
            <a:avLst/>
          </a:prstGeom>
          <a:solidFill>
            <a:srgbClr val="E8E0E2"/>
          </a:solidFill>
          <a:ln w="1270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548640" y="27066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40280" y="270662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0.9029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240280" y="301752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944368" y="270662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944368" y="301752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48456" y="270662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0.48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648456" y="301752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383280"/>
            <a:ext cx="4114800" cy="676656"/>
          </a:xfrm>
          <a:prstGeom prst="rect">
            <a:avLst/>
          </a:prstGeom>
          <a:solidFill>
            <a:srgbClr val="7D2E4F"/>
          </a:solidFill>
          <a:ln w="6350">
            <a:solidFill>
              <a:srgbClr val="7D2E4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3" name="Shape 31"/>
          <p:cNvSpPr/>
          <p:nvPr/>
        </p:nvSpPr>
        <p:spPr>
          <a:xfrm>
            <a:off x="274320" y="3383280"/>
            <a:ext cx="164592" cy="676656"/>
          </a:xfrm>
          <a:prstGeom prst="rect">
            <a:avLst/>
          </a:prstGeom>
          <a:solidFill>
            <a:srgbClr val="F2C4CE"/>
          </a:solidFill>
          <a:ln w="12700">
            <a:solidFill>
              <a:srgbClr val="F2C4C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Text 32"/>
          <p:cNvSpPr/>
          <p:nvPr/>
        </p:nvSpPr>
        <p:spPr>
          <a:xfrm>
            <a:off x="54864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  ★  FINAL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40280" y="34747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0.9764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240280" y="378561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944368" y="34747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2944368" y="378561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648456" y="34747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C4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0.21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648456" y="378561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63440" y="1078992"/>
            <a:ext cx="42519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3" name="Shape 41"/>
          <p:cNvSpPr/>
          <p:nvPr/>
        </p:nvSpPr>
        <p:spPr>
          <a:xfrm>
            <a:off x="4663440" y="1078992"/>
            <a:ext cx="4251960" cy="13716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4" name="Text 42"/>
          <p:cNvSpPr/>
          <p:nvPr/>
        </p:nvSpPr>
        <p:spPr>
          <a:xfrm>
            <a:off x="4800600" y="12618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Metrics Matter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800600" y="1691640"/>
            <a:ext cx="54864" cy="96012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6" name="Text 44"/>
          <p:cNvSpPr/>
          <p:nvPr/>
        </p:nvSpPr>
        <p:spPr>
          <a:xfrm>
            <a:off x="4956048" y="171907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ROC-AUC  =  0.9764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956048" y="2011680"/>
            <a:ext cx="3419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97.6% of cases, the model correctly ranks a likely buyer above a non-buyer.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accuracy indicator: how well the model separates the two groups.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2788920"/>
            <a:ext cx="54864" cy="9601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9" name="Text 47"/>
          <p:cNvSpPr/>
          <p:nvPr/>
        </p:nvSpPr>
        <p:spPr>
          <a:xfrm>
            <a:off x="4956048" y="281635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 =  0.99  ✓  Priority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956048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of real buyers are identified.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as many as possible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00600" y="3858768"/>
            <a:ext cx="54864" cy="749808"/>
          </a:xfrm>
          <a:prstGeom prst="rect">
            <a:avLst/>
          </a:prstGeom>
          <a:solidFill>
            <a:srgbClr val="E8E0E2"/>
          </a:solidFill>
          <a:ln w="1270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2" name="Text 50"/>
          <p:cNvSpPr/>
          <p:nvPr/>
        </p:nvSpPr>
        <p:spPr>
          <a:xfrm>
            <a:off x="4956048" y="3886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  =  0.21  —  Intentionally Low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56048" y="41788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recommendations on-screen, not paid ads — extra recommendations cost us almost nothing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5" name="Text 53"/>
          <p:cNvSpPr/>
          <p:nvPr/>
        </p:nvSpPr>
        <p:spPr>
          <a:xfrm>
            <a:off x="36576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Session Analysis  ·  Eva Sun  ·  2026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All Shoppers Are Equal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Segmenting 4.5M sessions by predicted purchase probability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080260" cy="3208147"/>
          </a:xfrm>
          <a:prstGeom prst="rect">
            <a:avLst/>
          </a:prstGeom>
          <a:solidFill>
            <a:srgbClr val="FFF8F9"/>
          </a:solidFill>
          <a:ln w="1270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2080260" cy="170562"/>
          </a:xfrm>
          <a:prstGeom prst="rect">
            <a:avLst/>
          </a:prstGeom>
          <a:solidFill>
            <a:srgbClr val="E8E0E2"/>
          </a:solidFill>
          <a:ln w="1270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1817116" cy="330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INTENT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993391"/>
            <a:ext cx="1297940" cy="45719"/>
          </a:xfrm>
          <a:prstGeom prst="rect">
            <a:avLst/>
          </a:prstGeom>
          <a:solidFill>
            <a:srgbClr val="E8E0E2"/>
          </a:solidFill>
          <a:ln w="1270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336369" y="2344505"/>
            <a:ext cx="2283642" cy="589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2169736"/>
            <a:ext cx="1946910" cy="2201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127248"/>
            <a:ext cx="1946910" cy="2201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3,338</a:t>
            </a:r>
            <a:r>
              <a:rPr lang="en-US" altLang="zh-CN" sz="1200" b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sessions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675887"/>
            <a:ext cx="1687322" cy="45719"/>
          </a:xfrm>
          <a:prstGeom prst="rect">
            <a:avLst/>
          </a:prstGeom>
          <a:solidFill>
            <a:srgbClr val="E8E0E2"/>
          </a:solidFill>
          <a:ln w="1270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411480" y="3749040"/>
            <a:ext cx="1817116" cy="5504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browsers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17849" y="1024128"/>
            <a:ext cx="2333625" cy="3208147"/>
          </a:xfrm>
          <a:prstGeom prst="rect">
            <a:avLst/>
          </a:prstGeom>
          <a:solidFill>
            <a:srgbClr val="FDF0F3"/>
          </a:solidFill>
          <a:ln w="12700">
            <a:solidFill>
              <a:srgbClr val="F2C4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 dirty="0"/>
          </a:p>
        </p:txBody>
      </p:sp>
      <p:sp>
        <p:nvSpPr>
          <p:cNvPr id="17" name="Shape 15"/>
          <p:cNvSpPr/>
          <p:nvPr/>
        </p:nvSpPr>
        <p:spPr>
          <a:xfrm>
            <a:off x="3130233" y="1024127"/>
            <a:ext cx="2333624" cy="188715"/>
          </a:xfrm>
          <a:prstGeom prst="rect">
            <a:avLst/>
          </a:prstGeom>
          <a:solidFill>
            <a:srgbClr val="C4687A"/>
          </a:solidFill>
          <a:ln w="12700">
            <a:solidFill>
              <a:srgbClr val="C468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3383280" y="1261872"/>
            <a:ext cx="1817116" cy="330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C46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INTENT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49040" y="1993391"/>
            <a:ext cx="1297940" cy="45719"/>
          </a:xfrm>
          <a:prstGeom prst="rect">
            <a:avLst/>
          </a:prstGeom>
          <a:solidFill>
            <a:srgbClr val="C4687A"/>
          </a:solidFill>
          <a:ln w="12700">
            <a:solidFill>
              <a:srgbClr val="C468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3308169" y="2344505"/>
            <a:ext cx="1946910" cy="589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46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337560" y="2169736"/>
            <a:ext cx="1946910" cy="2201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127248"/>
            <a:ext cx="1946910" cy="2201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6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737</a:t>
            </a:r>
            <a:r>
              <a:rPr lang="en-US" altLang="zh-CN" sz="1200" b="1" dirty="0">
                <a:solidFill>
                  <a:srgbClr val="C46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1200" b="1" dirty="0">
                <a:solidFill>
                  <a:srgbClr val="C46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sessions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3675887"/>
            <a:ext cx="1687322" cy="45719"/>
          </a:xfrm>
          <a:prstGeom prst="rect">
            <a:avLst/>
          </a:prstGeom>
          <a:solidFill>
            <a:srgbClr val="C4687A"/>
          </a:solidFill>
          <a:ln w="12700">
            <a:solidFill>
              <a:srgbClr val="C468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3383280" y="3749040"/>
            <a:ext cx="1817116" cy="5504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C4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07075" y="1024128"/>
            <a:ext cx="2954835" cy="3208147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8" name="Shape 26"/>
          <p:cNvSpPr/>
          <p:nvPr/>
        </p:nvSpPr>
        <p:spPr>
          <a:xfrm>
            <a:off x="5807075" y="1014984"/>
            <a:ext cx="2954835" cy="101106"/>
          </a:xfrm>
          <a:prstGeom prst="rect">
            <a:avLst/>
          </a:prstGeom>
          <a:solidFill>
            <a:srgbClr val="F2C4CE"/>
          </a:solidFill>
          <a:ln w="12700">
            <a:solidFill>
              <a:srgbClr val="F2C4C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5928953" y="1252729"/>
            <a:ext cx="2757847" cy="235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INTENT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98497" y="1993391"/>
            <a:ext cx="1951143" cy="45719"/>
          </a:xfrm>
          <a:prstGeom prst="rect">
            <a:avLst/>
          </a:prstGeom>
          <a:solidFill>
            <a:srgbClr val="F2C4CE"/>
          </a:solidFill>
          <a:ln w="12700">
            <a:solidFill>
              <a:srgbClr val="F2C4C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30"/>
          <p:cNvSpPr/>
          <p:nvPr/>
        </p:nvSpPr>
        <p:spPr>
          <a:xfrm>
            <a:off x="5823404" y="2344506"/>
            <a:ext cx="2954835" cy="421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31.1%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852795" y="2169736"/>
            <a:ext cx="2954835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07075" y="3127248"/>
            <a:ext cx="2954835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450 </a:t>
            </a:r>
            <a:r>
              <a:rPr lang="en-US" altLang="zh-CN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sessions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50831" y="3675887"/>
            <a:ext cx="2560857" cy="45719"/>
          </a:xfrm>
          <a:prstGeom prst="rect">
            <a:avLst/>
          </a:prstGeom>
          <a:solidFill>
            <a:srgbClr val="F2C4CE"/>
          </a:solidFill>
          <a:ln w="12700">
            <a:solidFill>
              <a:srgbClr val="F2C4C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5928953" y="3749040"/>
            <a:ext cx="2757847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buy — 45× more likely than Low Intent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Text 39"/>
          <p:cNvSpPr/>
          <p:nvPr/>
        </p:nvSpPr>
        <p:spPr>
          <a:xfrm>
            <a:off x="36576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Session Analysis  ·  Eva Sun  · 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15C75C69-D6A5-8CF0-0E21-AD978DD3369A}"/>
              </a:ext>
            </a:extLst>
          </p:cNvPr>
          <p:cNvSpPr/>
          <p:nvPr/>
        </p:nvSpPr>
        <p:spPr>
          <a:xfrm>
            <a:off x="5806439" y="4241419"/>
            <a:ext cx="2979965" cy="596716"/>
          </a:xfrm>
          <a:prstGeom prst="rect">
            <a:avLst/>
          </a:prstGeom>
          <a:solidFill>
            <a:srgbClr val="C4687A">
              <a:alpha val="70000"/>
            </a:srgbClr>
          </a:solidFill>
          <a:ln w="12700">
            <a:solidFill>
              <a:srgbClr val="C4687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0F284ABE-26B3-F8CB-8F7E-874D0AFE1E74}"/>
              </a:ext>
            </a:extLst>
          </p:cNvPr>
          <p:cNvSpPr/>
          <p:nvPr/>
        </p:nvSpPr>
        <p:spPr>
          <a:xfrm>
            <a:off x="5750152" y="4153363"/>
            <a:ext cx="2979965" cy="4215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312</a:t>
            </a:r>
            <a:r>
              <a:rPr lang="en-US" altLang="zh-CN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sessions</a:t>
            </a:r>
            <a:endParaRPr lang="en-US" sz="1400" dirty="0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E86346CB-7067-5B84-B0A0-7171E663444D}"/>
              </a:ext>
            </a:extLst>
          </p:cNvPr>
          <p:cNvSpPr/>
          <p:nvPr/>
        </p:nvSpPr>
        <p:spPr>
          <a:xfrm>
            <a:off x="5798274" y="4521709"/>
            <a:ext cx="2979965" cy="220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Intent  ·  did not purchase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2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3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3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3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3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2000" fill="hold"/>
                                        <p:tgtEl>
                                          <p:spTgt spid="3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2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45" grpId="0" animBg="1"/>
      <p:bldP spid="46" grpId="0" animBg="1"/>
      <p:bldP spid="4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High-Intent Shoppers Still Leave?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converted vs non-converted High Intent sessions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0584" y="1024128"/>
            <a:ext cx="436545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Behavioural Diagnosis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024128"/>
            <a:ext cx="4270248" cy="109728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9" name="Shape 6"/>
          <p:cNvSpPr/>
          <p:nvPr/>
        </p:nvSpPr>
        <p:spPr>
          <a:xfrm>
            <a:off x="4846320" y="1024128"/>
            <a:ext cx="182880" cy="109728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7"/>
          <p:cNvSpPr/>
          <p:nvPr/>
        </p:nvSpPr>
        <p:spPr>
          <a:xfrm>
            <a:off x="4983480" y="1115568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Browsing Depth   35.9%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83480" y="144475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Non-converting</a:t>
            </a:r>
            <a:r>
              <a:rPr lang="en-US" sz="105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shoppers browse fewer unique products per click. They see less of the catalogue — and buy nothing.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2240280"/>
            <a:ext cx="427024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68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Shape 10"/>
          <p:cNvSpPr/>
          <p:nvPr/>
        </p:nvSpPr>
        <p:spPr>
          <a:xfrm>
            <a:off x="4661754" y="2240280"/>
            <a:ext cx="182880" cy="1097280"/>
          </a:xfrm>
          <a:prstGeom prst="rect">
            <a:avLst/>
          </a:prstGeom>
          <a:solidFill>
            <a:srgbClr val="C4687A"/>
          </a:solidFill>
          <a:ln w="12700">
            <a:solidFill>
              <a:srgbClr val="C468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1"/>
          <p:cNvSpPr/>
          <p:nvPr/>
        </p:nvSpPr>
        <p:spPr>
          <a:xfrm>
            <a:off x="4983480" y="233172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Too Long   16.2%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83480" y="2660904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Non-converting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sessions are 16% longer — they scroll aimlessly, not purposefully. 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3456432"/>
            <a:ext cx="427024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7" name="Shape 14"/>
          <p:cNvSpPr/>
          <p:nvPr/>
        </p:nvSpPr>
        <p:spPr>
          <a:xfrm>
            <a:off x="4677967" y="3463290"/>
            <a:ext cx="182880" cy="10972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5"/>
          <p:cNvSpPr/>
          <p:nvPr/>
        </p:nvSpPr>
        <p:spPr>
          <a:xfrm>
            <a:off x="4983480" y="3547872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Buyers Pay More  4.1%  💡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83480" y="387705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users spend more per product. Price isn't the barrier — confidence is. Don't recommend cheaper products!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0"/>
          <p:cNvSpPr/>
          <p:nvPr/>
        </p:nvSpPr>
        <p:spPr>
          <a:xfrm>
            <a:off x="36576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Session Analysis  ·  Eva Sun  · 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ABB4953-DC56-052D-D7A1-AF6816D8F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81" y="2100058"/>
            <a:ext cx="4305138" cy="1905014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17A0FB8-F747-DE3A-EA8B-5986FA723335}"/>
              </a:ext>
            </a:extLst>
          </p:cNvPr>
          <p:cNvCxnSpPr/>
          <p:nvPr/>
        </p:nvCxnSpPr>
        <p:spPr>
          <a:xfrm flipV="1">
            <a:off x="3629025" y="1746250"/>
            <a:ext cx="942975" cy="494030"/>
          </a:xfrm>
          <a:prstGeom prst="straightConnector1">
            <a:avLst/>
          </a:prstGeom>
          <a:ln w="1905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A9A865B-5BE4-6DD4-74FA-DD5DE92C1BF5}"/>
              </a:ext>
            </a:extLst>
          </p:cNvPr>
          <p:cNvCxnSpPr/>
          <p:nvPr/>
        </p:nvCxnSpPr>
        <p:spPr>
          <a:xfrm flipV="1">
            <a:off x="2025650" y="3149600"/>
            <a:ext cx="2652317" cy="460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182852F-F0DB-C130-E22E-BFD10C8E693A}"/>
              </a:ext>
            </a:extLst>
          </p:cNvPr>
          <p:cNvSpPr/>
          <p:nvPr/>
        </p:nvSpPr>
        <p:spPr>
          <a:xfrm>
            <a:off x="1958502" y="2859932"/>
            <a:ext cx="674451" cy="32004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3B76C-B5AC-0B58-6A84-44E345FD8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579246-6B8F-C932-6FDE-930B9A943DE8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522C10-81A8-786B-FA87-43C98C715863}"/>
              </a:ext>
            </a:extLst>
          </p:cNvPr>
          <p:cNvSpPr/>
          <p:nvPr/>
        </p:nvSpPr>
        <p:spPr>
          <a:xfrm>
            <a:off x="457200" y="10241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44550D-6D94-E352-AD4C-C62DA5819549}"/>
              </a:ext>
            </a:extLst>
          </p:cNvPr>
          <p:cNvSpPr/>
          <p:nvPr/>
        </p:nvSpPr>
        <p:spPr>
          <a:xfrm>
            <a:off x="45720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A022494-E2B9-98C5-A881-F199754F8AD2}"/>
              </a:ext>
            </a:extLst>
          </p:cNvPr>
          <p:cNvSpPr/>
          <p:nvPr/>
        </p:nvSpPr>
        <p:spPr>
          <a:xfrm>
            <a:off x="2950596" y="1499197"/>
            <a:ext cx="2063612" cy="482111"/>
          </a:xfrm>
          <a:prstGeom prst="rect">
            <a:avLst/>
          </a:prstGeom>
          <a:solidFill>
            <a:srgbClr val="C4687A">
              <a:alpha val="70000"/>
            </a:srgbClr>
          </a:solidFill>
          <a:ln w="12700">
            <a:solidFill>
              <a:srgbClr val="C4687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1EB94B7-88B2-B85E-158B-9C93DAF52CA5}"/>
              </a:ext>
            </a:extLst>
          </p:cNvPr>
          <p:cNvSpPr/>
          <p:nvPr/>
        </p:nvSpPr>
        <p:spPr>
          <a:xfrm>
            <a:off x="2566400" y="145053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312</a:t>
            </a:r>
            <a:r>
              <a:rPr lang="en-US" altLang="zh-CN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8F59313-7224-320C-E266-1CAD9E6AF470}"/>
              </a:ext>
            </a:extLst>
          </p:cNvPr>
          <p:cNvSpPr/>
          <p:nvPr/>
        </p:nvSpPr>
        <p:spPr>
          <a:xfrm>
            <a:off x="2557346" y="1761075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Intent  ·  did not purchase</a:t>
            </a:r>
            <a:endParaRPr lang="en-US" sz="11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81F307E2-450D-BA86-042D-0DCC926AB0A3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8DE24382-703A-63F2-D24A-0B3FD586C197}"/>
              </a:ext>
            </a:extLst>
          </p:cNvPr>
          <p:cNvSpPr/>
          <p:nvPr/>
        </p:nvSpPr>
        <p:spPr>
          <a:xfrm>
            <a:off x="36576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Session Analysis  ·  Eva Sun  ·  2026</a:t>
            </a: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C8C3D62-B4D8-9DAB-9A48-61B703FA3B47}"/>
              </a:ext>
            </a:extLst>
          </p:cNvPr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41" name="Shape 4"/>
          <p:cNvSpPr/>
          <p:nvPr/>
        </p:nvSpPr>
        <p:spPr>
          <a:xfrm>
            <a:off x="2021426" y="1974391"/>
            <a:ext cx="420624" cy="420624"/>
          </a:xfrm>
          <a:prstGeom prst="ellipse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2" name="Text 5"/>
          <p:cNvSpPr/>
          <p:nvPr/>
        </p:nvSpPr>
        <p:spPr>
          <a:xfrm>
            <a:off x="2021426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43" name="Text 7"/>
          <p:cNvSpPr/>
          <p:nvPr/>
        </p:nvSpPr>
        <p:spPr>
          <a:xfrm>
            <a:off x="2746535" y="2019590"/>
            <a:ext cx="4370637" cy="2644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Cart Categories</a:t>
            </a:r>
            <a:endParaRPr lang="en-US" sz="1150" dirty="0"/>
          </a:p>
        </p:txBody>
      </p:sp>
      <p:sp>
        <p:nvSpPr>
          <p:cNvPr id="44" name="Text 8"/>
          <p:cNvSpPr/>
          <p:nvPr/>
        </p:nvSpPr>
        <p:spPr>
          <a:xfrm>
            <a:off x="2728248" y="2284053"/>
            <a:ext cx="4370637" cy="377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category from products added to cart in this session</a:t>
            </a:r>
            <a:endParaRPr lang="en-US" sz="950" dirty="0"/>
          </a:p>
        </p:txBody>
      </p:sp>
      <p:sp>
        <p:nvSpPr>
          <p:cNvPr id="45" name="Shape 9"/>
          <p:cNvSpPr/>
          <p:nvPr/>
        </p:nvSpPr>
        <p:spPr>
          <a:xfrm>
            <a:off x="2009489" y="2756154"/>
            <a:ext cx="420624" cy="420624"/>
          </a:xfrm>
          <a:prstGeom prst="ellipse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6" name="Text 10"/>
          <p:cNvSpPr/>
          <p:nvPr/>
        </p:nvSpPr>
        <p:spPr>
          <a:xfrm>
            <a:off x="2031928" y="2761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47" name="Shape 11"/>
          <p:cNvSpPr/>
          <p:nvPr/>
        </p:nvSpPr>
        <p:spPr>
          <a:xfrm>
            <a:off x="2213450" y="3172968"/>
            <a:ext cx="36576" cy="347472"/>
          </a:xfrm>
          <a:prstGeom prst="rect">
            <a:avLst/>
          </a:prstGeom>
          <a:solidFill>
            <a:srgbClr val="E8E0E2"/>
          </a:solidFill>
          <a:ln w="1270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8" name="Text 12"/>
          <p:cNvSpPr/>
          <p:nvPr/>
        </p:nvSpPr>
        <p:spPr>
          <a:xfrm>
            <a:off x="2764823" y="2755391"/>
            <a:ext cx="4370637" cy="2644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Unseen Products</a:t>
            </a:r>
            <a:endParaRPr lang="en-US" sz="1150" dirty="0"/>
          </a:p>
        </p:txBody>
      </p:sp>
      <p:sp>
        <p:nvSpPr>
          <p:cNvPr id="49" name="Text 13"/>
          <p:cNvSpPr/>
          <p:nvPr/>
        </p:nvSpPr>
        <p:spPr>
          <a:xfrm>
            <a:off x="2764823" y="3016954"/>
            <a:ext cx="4370637" cy="377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top-selling products in those categories not yet viewed</a:t>
            </a:r>
            <a:endParaRPr lang="en-US" sz="950" dirty="0"/>
          </a:p>
        </p:txBody>
      </p:sp>
      <p:sp>
        <p:nvSpPr>
          <p:cNvPr id="50" name="Text 15"/>
          <p:cNvSpPr/>
          <p:nvPr/>
        </p:nvSpPr>
        <p:spPr>
          <a:xfrm>
            <a:off x="2003138" y="3479649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51" name="Shape 16"/>
          <p:cNvSpPr/>
          <p:nvPr/>
        </p:nvSpPr>
        <p:spPr>
          <a:xfrm>
            <a:off x="2213450" y="3941064"/>
            <a:ext cx="36576" cy="347472"/>
          </a:xfrm>
          <a:prstGeom prst="rect">
            <a:avLst/>
          </a:prstGeom>
          <a:solidFill>
            <a:srgbClr val="E8E0E2"/>
          </a:solidFill>
          <a:ln w="1270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2" name="Text 17"/>
          <p:cNvSpPr/>
          <p:nvPr/>
        </p:nvSpPr>
        <p:spPr>
          <a:xfrm>
            <a:off x="2764823" y="3523487"/>
            <a:ext cx="4370637" cy="2644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 by Popularity</a:t>
            </a:r>
            <a:endParaRPr lang="en-US" sz="1150" dirty="0"/>
          </a:p>
        </p:txBody>
      </p:sp>
      <p:sp>
        <p:nvSpPr>
          <p:cNvPr id="53" name="Text 18"/>
          <p:cNvSpPr/>
          <p:nvPr/>
        </p:nvSpPr>
        <p:spPr>
          <a:xfrm>
            <a:off x="2764823" y="3785050"/>
            <a:ext cx="4370637" cy="377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historical purchase count — platform-wide bestsellers first</a:t>
            </a:r>
            <a:endParaRPr lang="en-US" sz="950" dirty="0"/>
          </a:p>
        </p:txBody>
      </p:sp>
      <p:sp>
        <p:nvSpPr>
          <p:cNvPr id="54" name="Text 20"/>
          <p:cNvSpPr/>
          <p:nvPr/>
        </p:nvSpPr>
        <p:spPr>
          <a:xfrm>
            <a:off x="2003138" y="4243627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55" name="Text 21"/>
          <p:cNvSpPr/>
          <p:nvPr/>
        </p:nvSpPr>
        <p:spPr>
          <a:xfrm>
            <a:off x="2764823" y="4291583"/>
            <a:ext cx="4370637" cy="2644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Top 3 per Category</a:t>
            </a:r>
            <a:endParaRPr lang="en-US" sz="1150" dirty="0"/>
          </a:p>
        </p:txBody>
      </p:sp>
      <p:sp>
        <p:nvSpPr>
          <p:cNvPr id="56" name="Text 22"/>
          <p:cNvSpPr/>
          <p:nvPr/>
        </p:nvSpPr>
        <p:spPr>
          <a:xfrm>
            <a:off x="2764823" y="4553146"/>
            <a:ext cx="4370637" cy="377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at most 3 new products per category = personalised &amp; relevant</a:t>
            </a:r>
            <a:endParaRPr lang="en-US" sz="950" dirty="0"/>
          </a:p>
        </p:txBody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D1C6C7E6-4E89-DD39-222B-A3EC0027482A}"/>
              </a:ext>
            </a:extLst>
          </p:cNvPr>
          <p:cNvSpPr/>
          <p:nvPr/>
        </p:nvSpPr>
        <p:spPr>
          <a:xfrm>
            <a:off x="2031928" y="4309232"/>
            <a:ext cx="420624" cy="420624"/>
          </a:xfrm>
          <a:prstGeom prst="ellipse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r>
              <a:rPr lang="en-SG" sz="1400" dirty="0">
                <a:solidFill>
                  <a:schemeClr val="bg1"/>
                </a:solidFill>
                <a:latin typeface="Georgia" panose="02040502050405020303" pitchFamily="18" charset="0"/>
              </a:rPr>
              <a:t>4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285A55B5-9013-F566-A397-49AA898B9E05}"/>
              </a:ext>
            </a:extLst>
          </p:cNvPr>
          <p:cNvSpPr/>
          <p:nvPr/>
        </p:nvSpPr>
        <p:spPr>
          <a:xfrm>
            <a:off x="2031881" y="3512772"/>
            <a:ext cx="420624" cy="420624"/>
          </a:xfrm>
          <a:prstGeom prst="ellipse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r>
              <a:rPr lang="en-SG" sz="1400" dirty="0">
                <a:solidFill>
                  <a:schemeClr val="bg1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ECF303A0-F6DA-3418-B80A-3525DFCA30B8}"/>
              </a:ext>
            </a:extLst>
          </p:cNvPr>
          <p:cNvSpPr/>
          <p:nvPr/>
        </p:nvSpPr>
        <p:spPr>
          <a:xfrm>
            <a:off x="2213450" y="2414016"/>
            <a:ext cx="36576" cy="347472"/>
          </a:xfrm>
          <a:prstGeom prst="rect">
            <a:avLst/>
          </a:prstGeom>
          <a:solidFill>
            <a:srgbClr val="E8E0E2"/>
          </a:solidFill>
          <a:ln w="1270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F18A4B60-B8F8-E2CC-2509-DAAB3E2AD0FE}"/>
              </a:ext>
            </a:extLst>
          </p:cNvPr>
          <p:cNvSpPr/>
          <p:nvPr/>
        </p:nvSpPr>
        <p:spPr>
          <a:xfrm>
            <a:off x="2201513" y="1619251"/>
            <a:ext cx="36576" cy="347472"/>
          </a:xfrm>
          <a:prstGeom prst="rect">
            <a:avLst/>
          </a:prstGeom>
          <a:solidFill>
            <a:srgbClr val="E8E0E2"/>
          </a:solidFill>
          <a:ln w="12700">
            <a:solidFill>
              <a:srgbClr val="E8E0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5C1E630D-F7B9-57A5-637D-A13A5EF04339}"/>
              </a:ext>
            </a:extLst>
          </p:cNvPr>
          <p:cNvSpPr/>
          <p:nvPr/>
        </p:nvSpPr>
        <p:spPr>
          <a:xfrm>
            <a:off x="2027777" y="1191387"/>
            <a:ext cx="420624" cy="420624"/>
          </a:xfrm>
          <a:prstGeom prst="ellipse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r>
              <a:rPr lang="en-SG" sz="1400" dirty="0">
                <a:solidFill>
                  <a:schemeClr val="bg1"/>
                </a:solidFill>
                <a:latin typeface="Georgia" panose="02040502050405020303" pitchFamily="18" charset="0"/>
              </a:rPr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4BD07B-302C-CA82-FEDE-26250C887276}"/>
              </a:ext>
            </a:extLst>
          </p:cNvPr>
          <p:cNvSpPr txBox="1"/>
          <p:nvPr/>
        </p:nvSpPr>
        <p:spPr>
          <a:xfrm>
            <a:off x="2691140" y="1190137"/>
            <a:ext cx="4578484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sessions that are High Intent but did NOT convert</a:t>
            </a:r>
            <a:endParaRPr lang="en-US" sz="1150" dirty="0">
              <a:solidFill>
                <a:srgbClr val="7D2E4F"/>
              </a:solidFill>
            </a:endParaRPr>
          </a:p>
        </p:txBody>
      </p:sp>
      <p:sp>
        <p:nvSpPr>
          <p:cNvPr id="64" name="Text 1">
            <a:extLst>
              <a:ext uri="{FF2B5EF4-FFF2-40B4-BE49-F238E27FC236}">
                <a16:creationId xmlns:a16="http://schemas.microsoft.com/office/drawing/2014/main" id="{CB01B522-64D6-566C-15D8-81BCEAC350B6}"/>
              </a:ext>
            </a:extLst>
          </p:cNvPr>
          <p:cNvSpPr/>
          <p:nvPr/>
        </p:nvSpPr>
        <p:spPr>
          <a:xfrm>
            <a:off x="431260" y="23898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Smart Recommendations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78849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Recommend Doing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evidence-based actions to recover lost conversions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7D2E4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4206240" cy="146304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320040" y="1252728"/>
            <a:ext cx="384048" cy="347472"/>
          </a:xfrm>
          <a:prstGeom prst="rect">
            <a:avLst/>
          </a:prstGeom>
          <a:solidFill>
            <a:srgbClr val="7D2E4F">
              <a:alpha val="25000"/>
            </a:srgbClr>
          </a:solidFill>
          <a:ln w="12700">
            <a:solidFill>
              <a:srgbClr val="7D2E4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25272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Unseen Products in Cart Categories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" y="1655064"/>
            <a:ext cx="3986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view_depth 35.9% lower in non-converting group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8328" y="1892808"/>
            <a:ext cx="4096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altLang="zh-CN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top-selling products in the same categories that haven't been viewed yet </a:t>
            </a:r>
          </a:p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exploration depth.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" y="2414016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Increase exploration depth and purchase confidence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20624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468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206240" cy="146304"/>
          </a:xfrm>
          <a:prstGeom prst="rect">
            <a:avLst/>
          </a:prstGeom>
          <a:solidFill>
            <a:srgbClr val="C4687A"/>
          </a:solidFill>
          <a:ln w="12700">
            <a:solidFill>
              <a:srgbClr val="C468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4754880" y="1252728"/>
            <a:ext cx="384048" cy="347472"/>
          </a:xfrm>
          <a:prstGeom prst="rect">
            <a:avLst/>
          </a:prstGeom>
          <a:solidFill>
            <a:srgbClr val="C4687A">
              <a:alpha val="25000"/>
            </a:srgbClr>
          </a:solidFill>
          <a:ln w="12700">
            <a:solidFill>
              <a:srgbClr val="C4687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4754880" y="12527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6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125272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46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 Broader Discovery, Not Cheaper Alternatives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73168" y="1655064"/>
            <a:ext cx="3986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Converted users pay 4.1% MORE on average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73168" y="189280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recommend cheaper substitutes. </a:t>
            </a:r>
          </a:p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more products in the same price range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73168" y="2414016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4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Protect and grow average order value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761488"/>
            <a:ext cx="420624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4A7C5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228600" y="2761488"/>
            <a:ext cx="4206240" cy="14630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Shape 21"/>
          <p:cNvSpPr/>
          <p:nvPr/>
        </p:nvSpPr>
        <p:spPr>
          <a:xfrm>
            <a:off x="320040" y="2962656"/>
            <a:ext cx="384048" cy="347472"/>
          </a:xfrm>
          <a:prstGeom prst="rect">
            <a:avLst/>
          </a:prstGeom>
          <a:solidFill>
            <a:srgbClr val="4A7C59">
              <a:alpha val="25000"/>
            </a:srgbClr>
          </a:solidFill>
          <a:ln w="12700">
            <a:solidFill>
              <a:srgbClr val="4A7C5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320040" y="29626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296265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Goal-Oriented Product Lists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8328" y="3364992"/>
            <a:ext cx="3986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Non-converting sessions are 16.2% longer — aimless browsing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8328" y="3602736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'Complete the Look' or category bestseller. </a:t>
            </a:r>
          </a:p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the path to purchase.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8328" y="4123944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Reduce aimless browsing, increase conversion speed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761488"/>
            <a:ext cx="420624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6BAF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0" name="Shape 28"/>
          <p:cNvSpPr/>
          <p:nvPr/>
        </p:nvSpPr>
        <p:spPr>
          <a:xfrm>
            <a:off x="4663440" y="2761488"/>
            <a:ext cx="4206240" cy="146304"/>
          </a:xfrm>
          <a:prstGeom prst="rect">
            <a:avLst/>
          </a:prstGeom>
          <a:solidFill>
            <a:srgbClr val="6BAF7A"/>
          </a:solidFill>
          <a:ln w="12700">
            <a:solidFill>
              <a:srgbClr val="6BAF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Shape 29"/>
          <p:cNvSpPr/>
          <p:nvPr/>
        </p:nvSpPr>
        <p:spPr>
          <a:xfrm>
            <a:off x="4754880" y="2962656"/>
            <a:ext cx="384048" cy="347472"/>
          </a:xfrm>
          <a:prstGeom prst="rect">
            <a:avLst/>
          </a:prstGeom>
          <a:solidFill>
            <a:srgbClr val="6BAF7A">
              <a:alpha val="25000"/>
            </a:srgbClr>
          </a:solidFill>
          <a:ln w="12700">
            <a:solidFill>
              <a:srgbClr val="6BAF7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30"/>
          <p:cNvSpPr/>
          <p:nvPr/>
        </p:nvSpPr>
        <p:spPr>
          <a:xfrm>
            <a:off x="4754880" y="29626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A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12080" y="296265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6BA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In-Page Nudge for Repeat Product Views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73168" y="3364992"/>
            <a:ext cx="3986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Same product viewed 2+ times without adding to cart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73168" y="3602736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subtle in-page nudge with a direct purchase CTA after 2+ views of the same product. 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73168" y="4123944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Convert high-interest sessions without price incentive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36"/>
          <p:cNvSpPr/>
          <p:nvPr/>
        </p:nvSpPr>
        <p:spPr>
          <a:xfrm>
            <a:off x="36576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Session Analysis  ·  Eva Sun  · 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C4687A">
              <a:alpha val="35000"/>
            </a:srgbClr>
          </a:solidFill>
          <a:ln w="12700">
            <a:solidFill>
              <a:srgbClr val="C468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1371600" y="3474720"/>
            <a:ext cx="2743200" cy="2743200"/>
          </a:xfrm>
          <a:prstGeom prst="ellipse">
            <a:avLst/>
          </a:prstGeom>
          <a:solidFill>
            <a:srgbClr val="C4687A">
              <a:alpha val="35000"/>
            </a:srgbClr>
          </a:solidFill>
          <a:ln w="12700">
            <a:solidFill>
              <a:srgbClr val="C468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HONESTY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MATTERS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" y="21488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analysis has limits.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we couldn't do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what we need next.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29184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29000" y="2286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Were Working Around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429000" y="749808"/>
            <a:ext cx="5440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3429000" y="749808"/>
            <a:ext cx="164592" cy="1188720"/>
          </a:xfrm>
          <a:prstGeom prst="rect">
            <a:avLst/>
          </a:prstGeom>
          <a:solidFill>
            <a:srgbClr val="C4687A"/>
          </a:solidFill>
          <a:ln w="12700">
            <a:solidFill>
              <a:srgbClr val="C468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109728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24528" y="8595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6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42.2% of Brand Data is Missing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224528" y="1170432"/>
            <a:ext cx="4526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8 million events have no brand recorded. This prevents brand-aware recommendations — a critical gap in a professional beauty market where practitioners are extremely brand-loyal. A shopper choosing </a:t>
            </a:r>
            <a:r>
              <a:rPr lang="en-US" altLang="zh-CN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not want substitutes from other brands.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429000" y="2075688"/>
            <a:ext cx="5440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Shape 11"/>
          <p:cNvSpPr/>
          <p:nvPr/>
        </p:nvSpPr>
        <p:spPr>
          <a:xfrm>
            <a:off x="3429000" y="2075688"/>
            <a:ext cx="164592" cy="118872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752" y="242316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24528" y="218541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Names Not Available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224528" y="2496312"/>
            <a:ext cx="4526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of category_code values are blank. We work with numeric category IDs only — meaning we can't show users readable labels like 'Foundation' or 'Skincare'. A lookup table from the product team would immediately improve the recommendation interface.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429000" y="3401568"/>
            <a:ext cx="5440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0" name="Shape 15"/>
          <p:cNvSpPr/>
          <p:nvPr/>
        </p:nvSpPr>
        <p:spPr>
          <a:xfrm>
            <a:off x="3429000" y="3401568"/>
            <a:ext cx="164592" cy="11887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0752" y="374904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224528" y="351129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Cross-Session or Demographic Data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224528" y="3822192"/>
            <a:ext cx="4526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see one session at a time. We don't know the user's history, device, traffic source, or demographics — no personalisation beyond this visit. 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D2E4F"/>
          </a:solidFill>
          <a:ln w="12700">
            <a:solidFill>
              <a:srgbClr val="7D2E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19"/>
          <p:cNvSpPr/>
          <p:nvPr/>
        </p:nvSpPr>
        <p:spPr>
          <a:xfrm>
            <a:off x="36576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Session Analysis  ·  Eva Sun  ·  2026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C4687A">
              <a:alpha val="40000"/>
            </a:srgbClr>
          </a:solidFill>
          <a:ln w="12700">
            <a:solidFill>
              <a:srgbClr val="C4687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C4687A">
              <a:alpha val="35000"/>
            </a:srgbClr>
          </a:solidFill>
          <a:ln w="12700">
            <a:solidFill>
              <a:srgbClr val="C468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914400" y="8229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23544" y="685800"/>
            <a:ext cx="3200400" cy="1783080"/>
          </a:xfrm>
          <a:prstGeom prst="rect">
            <a:avLst/>
          </a:prstGeom>
          <a:solidFill>
            <a:srgbClr val="C4687A">
              <a:alpha val="70000"/>
            </a:srgbClr>
          </a:solidFill>
          <a:ln w="12700">
            <a:solidFill>
              <a:srgbClr val="C4687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905256" y="960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914400" y="20848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per 100 visitors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685800"/>
            <a:ext cx="320040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5029200" y="8229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0" dirty="0">
                <a:solidFill>
                  <a:srgbClr val="7D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005840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7D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5029200" y="20848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per 100 visitors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2743200"/>
            <a:ext cx="7315200" cy="45720"/>
          </a:xfrm>
          <a:prstGeom prst="rect">
            <a:avLst/>
          </a:prstGeom>
          <a:solidFill>
            <a:srgbClr val="F2C4CE">
              <a:alpha val="60000"/>
            </a:srgbClr>
          </a:solidFill>
          <a:ln w="12700">
            <a:solidFill>
              <a:srgbClr val="F2C4C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731520" y="2907792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know why they're leaving.</a:t>
            </a:r>
            <a:endParaRPr lang="en-US" sz="2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know how to bring them back.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2560320" cy="411480"/>
          </a:xfrm>
          <a:prstGeom prst="rect">
            <a:avLst/>
          </a:prstGeom>
          <a:solidFill>
            <a:srgbClr val="C4687A">
              <a:alpha val="65000"/>
            </a:srgbClr>
          </a:solidFill>
          <a:ln w="12700">
            <a:solidFill>
              <a:srgbClr val="C4687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97.6% model accuracy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3977640"/>
            <a:ext cx="2560320" cy="411480"/>
          </a:xfrm>
          <a:prstGeom prst="rect">
            <a:avLst/>
          </a:prstGeom>
          <a:solidFill>
            <a:srgbClr val="C4687A">
              <a:alpha val="65000"/>
            </a:srgbClr>
          </a:solidFill>
          <a:ln w="12700">
            <a:solidFill>
              <a:srgbClr val="C4687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3291840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356K high-intent sessions to recover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3977640"/>
            <a:ext cx="2560320" cy="411480"/>
          </a:xfrm>
          <a:prstGeom prst="rect">
            <a:avLst/>
          </a:prstGeom>
          <a:solidFill>
            <a:srgbClr val="C4687A">
              <a:alpha val="65000"/>
            </a:srgbClr>
          </a:solidFill>
          <a:ln w="12700">
            <a:solidFill>
              <a:srgbClr val="C4687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6035040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cost per recommendation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Sun  ·  February 2026  ·  E-Commerce Session Analysis</a:t>
            </a:r>
            <a:endParaRPr lang="en-US" sz="900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259A7168-2A1E-2BA7-B976-1F0EBB4D2E27}"/>
              </a:ext>
            </a:extLst>
          </p:cNvPr>
          <p:cNvSpPr/>
          <p:nvPr/>
        </p:nvSpPr>
        <p:spPr>
          <a:xfrm>
            <a:off x="3725402" y="1408176"/>
            <a:ext cx="1352145" cy="44805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1276</Words>
  <Application>Microsoft Office PowerPoint</Application>
  <PresentationFormat>On-screen Show (16:9)</PresentationFormat>
  <Paragraphs>288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Session Analysis</dc:title>
  <dc:subject>PptxGenJS Presentation</dc:subject>
  <dc:creator>Eva Sun</dc:creator>
  <cp:lastModifiedBy>eva sun</cp:lastModifiedBy>
  <cp:revision>64</cp:revision>
  <dcterms:created xsi:type="dcterms:W3CDTF">2026-02-28T02:50:31Z</dcterms:created>
  <dcterms:modified xsi:type="dcterms:W3CDTF">2026-03-02T09:22:11Z</dcterms:modified>
</cp:coreProperties>
</file>